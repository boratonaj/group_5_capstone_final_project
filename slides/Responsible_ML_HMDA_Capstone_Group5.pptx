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62" r:id="rId3"/>
    <p:sldId id="263" r:id="rId4"/>
    <p:sldId id="264" r:id="rId5"/>
    <p:sldId id="260" r:id="rId6"/>
    <p:sldId id="265" r:id="rId7"/>
    <p:sldId id="266" r:id="rId8"/>
    <p:sldId id="257" r:id="rId9"/>
    <p:sldId id="261" r:id="rId10"/>
    <p:sldId id="267" r:id="rId11"/>
    <p:sldId id="259" r:id="rId12"/>
    <p:sldId id="269" r:id="rId13"/>
    <p:sldId id="268" r:id="rId14"/>
    <p:sldId id="270" r:id="rId15"/>
    <p:sldId id="271" r:id="rId16"/>
    <p:sldId id="272" r:id="rId17"/>
    <p:sldId id="273" r:id="rId18"/>
    <p:sldId id="274" r:id="rId19"/>
    <p:sldId id="275"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4610"/>
  </p:normalViewPr>
  <p:slideViewPr>
    <p:cSldViewPr snapToGrid="0" snapToObjects="1">
      <p:cViewPr varScale="1">
        <p:scale>
          <a:sx n="50" d="100"/>
          <a:sy n="50" d="100"/>
        </p:scale>
        <p:origin x="30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687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E1116"/>
          </a:solidFill>
          <a:ln/>
        </p:spPr>
        <p:txBody>
          <a:bodyPr/>
          <a:lstStyle/>
          <a:p>
            <a:endParaRPr lang="en-US"/>
          </a:p>
        </p:txBody>
      </p:sp>
      <p:sp>
        <p:nvSpPr>
          <p:cNvPr id="5" name="Text 3"/>
          <p:cNvSpPr/>
          <p:nvPr/>
        </p:nvSpPr>
        <p:spPr>
          <a:xfrm>
            <a:off x="14019014" y="571500"/>
            <a:ext cx="34159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F6F4EE">
                    <a:alpha val="55000"/>
                  </a:srgbClr>
                </a:solidFill>
                <a:latin typeface="Arial" pitchFamily="34" charset="0"/>
                <a:ea typeface="Arial" pitchFamily="34" charset="-122"/>
                <a:cs typeface="Arial" pitchFamily="34" charset="-120"/>
              </a:rPr>
              <a:t>DNSC 6330 · CAPSTONE</a:t>
            </a:r>
            <a:endParaRPr lang="en-US" sz="1800" dirty="0"/>
          </a:p>
        </p:txBody>
      </p:sp>
      <p:sp>
        <p:nvSpPr>
          <p:cNvPr id="6" name="Text 4"/>
          <p:cNvSpPr/>
          <p:nvPr/>
        </p:nvSpPr>
        <p:spPr>
          <a:xfrm>
            <a:off x="952500" y="173732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RESPONSIBLE MACHINE LEARNING AUDIT</a:t>
            </a:r>
            <a:endParaRPr lang="en-US" sz="1800" dirty="0"/>
          </a:p>
        </p:txBody>
      </p:sp>
      <p:sp>
        <p:nvSpPr>
          <p:cNvPr id="7" name="Text 5"/>
          <p:cNvSpPr/>
          <p:nvPr/>
        </p:nvSpPr>
        <p:spPr>
          <a:xfrm>
            <a:off x="952501" y="2350691"/>
            <a:ext cx="12293600" cy="2049661"/>
          </a:xfrm>
          <a:prstGeom prst="rect">
            <a:avLst/>
          </a:prstGeom>
          <a:noFill/>
          <a:ln/>
        </p:spPr>
        <p:txBody>
          <a:bodyPr wrap="square" lIns="25400" tIns="25400" rIns="25400" bIns="25400" rtlCol="0" anchor="t">
            <a:normAutofit fontScale="92500" lnSpcReduction="10000"/>
          </a:bodyPr>
          <a:lstStyle/>
          <a:p>
            <a:pPr marL="0" indent="0" algn="l">
              <a:lnSpc>
                <a:spcPct val="96000"/>
              </a:lnSpc>
              <a:buNone/>
            </a:pPr>
            <a:r>
              <a:rPr lang="en-US" sz="8250" b="1" kern="0" spc="-289" dirty="0">
                <a:solidFill>
                  <a:srgbClr val="F6F4EE"/>
                </a:solidFill>
                <a:latin typeface="Arial" pitchFamily="34" charset="0"/>
                <a:ea typeface="Arial" pitchFamily="34" charset="-122"/>
                <a:cs typeface="Arial" pitchFamily="34" charset="-120"/>
              </a:rPr>
              <a:t>Home Mortgage Lending </a:t>
            </a:r>
            <a:r>
              <a:rPr lang="en-US" sz="8250" b="1" kern="0" spc="-289" dirty="0">
                <a:solidFill>
                  <a:srgbClr val="B0361C"/>
                </a:solidFill>
                <a:latin typeface="Arial" pitchFamily="34" charset="0"/>
                <a:ea typeface="Arial" pitchFamily="34" charset="-122"/>
                <a:cs typeface="Arial" pitchFamily="34" charset="-120"/>
              </a:rPr>
              <a:t>Model Audit</a:t>
            </a:r>
            <a:endParaRPr lang="en-US" sz="8250" dirty="0"/>
          </a:p>
        </p:txBody>
      </p:sp>
      <p:sp>
        <p:nvSpPr>
          <p:cNvPr id="8" name="Text 6"/>
          <p:cNvSpPr/>
          <p:nvPr/>
        </p:nvSpPr>
        <p:spPr>
          <a:xfrm>
            <a:off x="952500" y="4933752"/>
            <a:ext cx="1963837" cy="423863"/>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324" dirty="0">
                <a:solidFill>
                  <a:srgbClr val="F6F4EE">
                    <a:alpha val="55000"/>
                  </a:srgbClr>
                </a:solidFill>
                <a:latin typeface="Arial" pitchFamily="34" charset="0"/>
                <a:ea typeface="Arial" pitchFamily="34" charset="-122"/>
                <a:cs typeface="Arial" pitchFamily="34" charset="-120"/>
              </a:rPr>
              <a:t>COURSE</a:t>
            </a:r>
            <a:endParaRPr lang="en-US" sz="1800" dirty="0"/>
          </a:p>
        </p:txBody>
      </p:sp>
      <p:sp>
        <p:nvSpPr>
          <p:cNvPr id="9" name="Text 7"/>
          <p:cNvSpPr/>
          <p:nvPr/>
        </p:nvSpPr>
        <p:spPr>
          <a:xfrm>
            <a:off x="3792637" y="4933752"/>
            <a:ext cx="704810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F6F4EE"/>
                </a:solidFill>
                <a:latin typeface="Arial" pitchFamily="34" charset="0"/>
                <a:ea typeface="Arial" pitchFamily="34" charset="-122"/>
                <a:cs typeface="Arial" pitchFamily="34" charset="-120"/>
              </a:rPr>
              <a:t>DNSC 6330 Capstone Presentation</a:t>
            </a:r>
            <a:endParaRPr lang="en-US" sz="2250" dirty="0"/>
          </a:p>
        </p:txBody>
      </p:sp>
      <p:sp>
        <p:nvSpPr>
          <p:cNvPr id="10" name="Text 8"/>
          <p:cNvSpPr/>
          <p:nvPr/>
        </p:nvSpPr>
        <p:spPr>
          <a:xfrm>
            <a:off x="952500" y="5433814"/>
            <a:ext cx="1963837" cy="423863"/>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324" dirty="0">
                <a:solidFill>
                  <a:srgbClr val="F6F4EE">
                    <a:alpha val="55000"/>
                  </a:srgbClr>
                </a:solidFill>
                <a:latin typeface="Arial" pitchFamily="34" charset="0"/>
                <a:ea typeface="Arial" pitchFamily="34" charset="-122"/>
                <a:cs typeface="Arial" pitchFamily="34" charset="-120"/>
              </a:rPr>
              <a:t>INSTITUTION</a:t>
            </a:r>
            <a:endParaRPr lang="en-US" sz="1800" dirty="0"/>
          </a:p>
        </p:txBody>
      </p:sp>
      <p:sp>
        <p:nvSpPr>
          <p:cNvPr id="11" name="Text 9"/>
          <p:cNvSpPr/>
          <p:nvPr/>
        </p:nvSpPr>
        <p:spPr>
          <a:xfrm>
            <a:off x="3792637" y="5433814"/>
            <a:ext cx="704810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F6F4EE"/>
                </a:solidFill>
                <a:latin typeface="Arial" pitchFamily="34" charset="0"/>
                <a:ea typeface="Arial" pitchFamily="34" charset="-122"/>
                <a:cs typeface="Arial" pitchFamily="34" charset="-120"/>
              </a:rPr>
              <a:t>George Washington University School of Business</a:t>
            </a:r>
            <a:endParaRPr lang="en-US" sz="2250" dirty="0"/>
          </a:p>
        </p:txBody>
      </p:sp>
      <p:sp>
        <p:nvSpPr>
          <p:cNvPr id="12" name="Text 10"/>
          <p:cNvSpPr/>
          <p:nvPr/>
        </p:nvSpPr>
        <p:spPr>
          <a:xfrm>
            <a:off x="952501" y="6486327"/>
            <a:ext cx="9499600" cy="92948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700" dirty="0">
                <a:solidFill>
                  <a:srgbClr val="F6F4EE">
                    <a:alpha val="82000"/>
                  </a:srgbClr>
                </a:solidFill>
                <a:latin typeface="Arial" pitchFamily="34" charset="0"/>
                <a:ea typeface="Arial" pitchFamily="34" charset="-122"/>
                <a:cs typeface="Arial" pitchFamily="34" charset="-120"/>
              </a:rPr>
              <a:t>HMDA lending model evaluated for predictive performance, disparate impact, residual risk, and deployment defensibility.</a:t>
            </a:r>
            <a:endParaRPr lang="en-US" sz="2700" dirty="0"/>
          </a:p>
        </p:txBody>
      </p:sp>
      <p:sp>
        <p:nvSpPr>
          <p:cNvPr id="13" name="Shape 11"/>
          <p:cNvSpPr/>
          <p:nvPr/>
        </p:nvSpPr>
        <p:spPr>
          <a:xfrm>
            <a:off x="952500" y="9343430"/>
            <a:ext cx="16383000" cy="9525"/>
          </a:xfrm>
          <a:prstGeom prst="rect">
            <a:avLst/>
          </a:prstGeom>
          <a:solidFill>
            <a:srgbClr val="F6F4EE">
              <a:alpha val="18000"/>
            </a:srgbClr>
          </a:solidFill>
          <a:ln/>
        </p:spPr>
        <p:txBody>
          <a:bodyPr/>
          <a:lstStyle/>
          <a:p>
            <a:endParaRPr lang="en-US"/>
          </a:p>
        </p:txBody>
      </p:sp>
      <p:sp>
        <p:nvSpPr>
          <p:cNvPr id="14" name="Text 12"/>
          <p:cNvSpPr/>
          <p:nvPr/>
        </p:nvSpPr>
        <p:spPr>
          <a:xfrm>
            <a:off x="952500" y="9559330"/>
            <a:ext cx="4130019"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F6F4EE">
                    <a:alpha val="55000"/>
                  </a:srgbClr>
                </a:solidFill>
                <a:latin typeface="Arial" pitchFamily="34" charset="0"/>
                <a:ea typeface="Arial" pitchFamily="34" charset="-122"/>
                <a:cs typeface="Arial" pitchFamily="34" charset="-120"/>
              </a:rPr>
              <a:t>GROUP 5 · DNSC 6330 · GWU</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OPTIMIZATION OBJECTIVE</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Metric, threshold, and trade-off</a:t>
            </a:r>
            <a:endParaRPr lang="en-US" sz="4800" dirty="0"/>
          </a:p>
        </p:txBody>
      </p:sp>
      <p:sp>
        <p:nvSpPr>
          <p:cNvPr id="17" name="Text 15"/>
          <p:cNvSpPr/>
          <p:nvPr/>
        </p:nvSpPr>
        <p:spPr>
          <a:xfrm>
            <a:off x="12077700" y="4486869"/>
            <a:ext cx="5415534"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0E1116"/>
                </a:solidFill>
                <a:latin typeface="Arial" pitchFamily="34" charset="0"/>
                <a:ea typeface="Arial" pitchFamily="34" charset="-122"/>
                <a:cs typeface="Arial" pitchFamily="34" charset="-120"/>
              </a:rPr>
              <a:t>AUC 0.8127</a:t>
            </a:r>
            <a:endParaRPr lang="en-US" sz="6300" dirty="0"/>
          </a:p>
        </p:txBody>
      </p:sp>
      <p:sp>
        <p:nvSpPr>
          <p:cNvPr id="7" name="Shape 5"/>
          <p:cNvSpPr/>
          <p:nvPr/>
        </p:nvSpPr>
        <p:spPr>
          <a:xfrm>
            <a:off x="952500" y="3854449"/>
            <a:ext cx="5257800" cy="19050"/>
          </a:xfrm>
          <a:prstGeom prst="rect">
            <a:avLst/>
          </a:prstGeom>
          <a:solidFill>
            <a:srgbClr val="0E1116"/>
          </a:solidFill>
          <a:ln/>
        </p:spPr>
        <p:txBody>
          <a:bodyPr/>
          <a:lstStyle/>
          <a:p>
            <a:endParaRPr lang="en-US"/>
          </a:p>
        </p:txBody>
      </p:sp>
      <p:sp>
        <p:nvSpPr>
          <p:cNvPr id="8" name="Text 6"/>
          <p:cNvSpPr/>
          <p:nvPr/>
        </p:nvSpPr>
        <p:spPr>
          <a:xfrm>
            <a:off x="952500" y="4063999"/>
            <a:ext cx="541553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5C636E"/>
                </a:solidFill>
                <a:latin typeface="Arial" pitchFamily="34" charset="0"/>
                <a:ea typeface="Arial" pitchFamily="34" charset="-122"/>
                <a:cs typeface="Arial" pitchFamily="34" charset="-120"/>
              </a:rPr>
              <a:t>METRIC</a:t>
            </a:r>
            <a:endParaRPr lang="en-US" sz="1800" dirty="0"/>
          </a:p>
        </p:txBody>
      </p:sp>
      <p:sp>
        <p:nvSpPr>
          <p:cNvPr id="9" name="Text 7"/>
          <p:cNvSpPr/>
          <p:nvPr/>
        </p:nvSpPr>
        <p:spPr>
          <a:xfrm>
            <a:off x="952500" y="4486869"/>
            <a:ext cx="5415534"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0E1116"/>
                </a:solidFill>
                <a:latin typeface="Arial" pitchFamily="34" charset="0"/>
                <a:ea typeface="Arial" pitchFamily="34" charset="-122"/>
                <a:cs typeface="Arial" pitchFamily="34" charset="-120"/>
              </a:rPr>
              <a:t>F1 = 0.8861</a:t>
            </a:r>
            <a:endParaRPr lang="en-US" sz="6300" dirty="0"/>
          </a:p>
        </p:txBody>
      </p:sp>
      <p:sp>
        <p:nvSpPr>
          <p:cNvPr id="10" name="Text 8"/>
          <p:cNvSpPr/>
          <p:nvPr/>
        </p:nvSpPr>
        <p:spPr>
          <a:xfrm>
            <a:off x="952500" y="5420319"/>
            <a:ext cx="5415534" cy="882550"/>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Validation-optimized balance of </a:t>
            </a:r>
          </a:p>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precision + recall</a:t>
            </a:r>
            <a:endParaRPr lang="en-US" sz="2000" dirty="0"/>
          </a:p>
        </p:txBody>
      </p:sp>
      <p:sp>
        <p:nvSpPr>
          <p:cNvPr id="11" name="Shape 9"/>
          <p:cNvSpPr/>
          <p:nvPr/>
        </p:nvSpPr>
        <p:spPr>
          <a:xfrm>
            <a:off x="6515100" y="3854449"/>
            <a:ext cx="5257800" cy="19050"/>
          </a:xfrm>
          <a:prstGeom prst="rect">
            <a:avLst/>
          </a:prstGeom>
          <a:solidFill>
            <a:srgbClr val="0E1116"/>
          </a:solidFill>
          <a:ln/>
        </p:spPr>
        <p:txBody>
          <a:bodyPr/>
          <a:lstStyle/>
          <a:p>
            <a:endParaRPr lang="en-US"/>
          </a:p>
        </p:txBody>
      </p:sp>
      <p:sp>
        <p:nvSpPr>
          <p:cNvPr id="12" name="Text 10"/>
          <p:cNvSpPr/>
          <p:nvPr/>
        </p:nvSpPr>
        <p:spPr>
          <a:xfrm>
            <a:off x="6515100" y="4063999"/>
            <a:ext cx="541553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5C636E"/>
                </a:solidFill>
                <a:latin typeface="Arial" pitchFamily="34" charset="0"/>
                <a:ea typeface="Arial" pitchFamily="34" charset="-122"/>
                <a:cs typeface="Arial" pitchFamily="34" charset="-120"/>
              </a:rPr>
              <a:t>THRESHOLD</a:t>
            </a:r>
            <a:endParaRPr lang="en-US" sz="1800" dirty="0"/>
          </a:p>
        </p:txBody>
      </p:sp>
      <p:sp>
        <p:nvSpPr>
          <p:cNvPr id="13" name="Text 11"/>
          <p:cNvSpPr/>
          <p:nvPr/>
        </p:nvSpPr>
        <p:spPr>
          <a:xfrm>
            <a:off x="6515100" y="4486869"/>
            <a:ext cx="5415534"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26" dirty="0">
                <a:solidFill>
                  <a:srgbClr val="B0361C"/>
                </a:solidFill>
                <a:latin typeface="Arial" pitchFamily="34" charset="0"/>
                <a:ea typeface="Arial" pitchFamily="34" charset="-122"/>
                <a:cs typeface="Arial" pitchFamily="34" charset="-120"/>
              </a:rPr>
              <a:t>0.2575</a:t>
            </a:r>
            <a:endParaRPr lang="en-US" sz="6300" dirty="0"/>
          </a:p>
        </p:txBody>
      </p:sp>
      <p:sp>
        <p:nvSpPr>
          <p:cNvPr id="14" name="Text 12"/>
          <p:cNvSpPr/>
          <p:nvPr/>
        </p:nvSpPr>
        <p:spPr>
          <a:xfrm>
            <a:off x="6515100" y="5420319"/>
            <a:ext cx="5415534" cy="358080"/>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Operational approval cutoff</a:t>
            </a:r>
            <a:endParaRPr lang="en-US" sz="2000" dirty="0"/>
          </a:p>
        </p:txBody>
      </p:sp>
      <p:sp>
        <p:nvSpPr>
          <p:cNvPr id="15" name="Shape 13"/>
          <p:cNvSpPr/>
          <p:nvPr/>
        </p:nvSpPr>
        <p:spPr>
          <a:xfrm>
            <a:off x="12077700" y="3854449"/>
            <a:ext cx="5257800" cy="19050"/>
          </a:xfrm>
          <a:prstGeom prst="rect">
            <a:avLst/>
          </a:prstGeom>
          <a:solidFill>
            <a:srgbClr val="0E1116"/>
          </a:solidFill>
          <a:ln/>
        </p:spPr>
        <p:txBody>
          <a:bodyPr/>
          <a:lstStyle/>
          <a:p>
            <a:endParaRPr lang="en-US"/>
          </a:p>
        </p:txBody>
      </p:sp>
      <p:sp>
        <p:nvSpPr>
          <p:cNvPr id="16" name="Text 14"/>
          <p:cNvSpPr/>
          <p:nvPr/>
        </p:nvSpPr>
        <p:spPr>
          <a:xfrm>
            <a:off x="12077700" y="4063999"/>
            <a:ext cx="541553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5C636E"/>
                </a:solidFill>
                <a:latin typeface="Arial" pitchFamily="34" charset="0"/>
                <a:ea typeface="Arial" pitchFamily="34" charset="-122"/>
                <a:cs typeface="Arial" pitchFamily="34" charset="-120"/>
              </a:rPr>
              <a:t>RANKING</a:t>
            </a:r>
            <a:endParaRPr lang="en-US" sz="1800" dirty="0"/>
          </a:p>
        </p:txBody>
      </p:sp>
      <p:sp>
        <p:nvSpPr>
          <p:cNvPr id="18" name="Text 16"/>
          <p:cNvSpPr/>
          <p:nvPr/>
        </p:nvSpPr>
        <p:spPr>
          <a:xfrm>
            <a:off x="12077700" y="5420319"/>
            <a:ext cx="5415534" cy="358080"/>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Test set ranking quality</a:t>
            </a:r>
            <a:endParaRPr lang="en-US" sz="2000" dirty="0"/>
          </a:p>
        </p:txBody>
      </p:sp>
      <p:sp>
        <p:nvSpPr>
          <p:cNvPr id="19" name="Shape 17"/>
          <p:cNvSpPr/>
          <p:nvPr/>
        </p:nvSpPr>
        <p:spPr>
          <a:xfrm>
            <a:off x="952500" y="6895900"/>
            <a:ext cx="16383000" cy="859731"/>
          </a:xfrm>
          <a:prstGeom prst="rect">
            <a:avLst/>
          </a:prstGeom>
          <a:solidFill>
            <a:srgbClr val="0E1116"/>
          </a:solidFill>
          <a:ln/>
        </p:spPr>
        <p:txBody>
          <a:bodyPr/>
          <a:lstStyle/>
          <a:p>
            <a:endParaRPr lang="en-US" dirty="0"/>
          </a:p>
        </p:txBody>
      </p:sp>
      <p:sp>
        <p:nvSpPr>
          <p:cNvPr id="20" name="Shape 18"/>
          <p:cNvSpPr/>
          <p:nvPr/>
        </p:nvSpPr>
        <p:spPr>
          <a:xfrm>
            <a:off x="3896717" y="7171430"/>
            <a:ext cx="9525" cy="308570"/>
          </a:xfrm>
          <a:prstGeom prst="rect">
            <a:avLst/>
          </a:prstGeom>
          <a:solidFill>
            <a:srgbClr val="F6F4EE">
              <a:alpha val="25000"/>
            </a:srgbClr>
          </a:solidFill>
          <a:ln/>
        </p:spPr>
        <p:txBody>
          <a:bodyPr/>
          <a:lstStyle/>
          <a:p>
            <a:endParaRPr lang="en-US"/>
          </a:p>
        </p:txBody>
      </p:sp>
      <p:sp>
        <p:nvSpPr>
          <p:cNvPr id="21" name="Text 19"/>
          <p:cNvSpPr/>
          <p:nvPr/>
        </p:nvSpPr>
        <p:spPr>
          <a:xfrm>
            <a:off x="1257300" y="7171430"/>
            <a:ext cx="24520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60" dirty="0">
                <a:solidFill>
                  <a:srgbClr val="E8C9C0"/>
                </a:solidFill>
                <a:latin typeface="Arial" pitchFamily="34" charset="0"/>
                <a:ea typeface="Arial" pitchFamily="34" charset="-122"/>
                <a:cs typeface="Arial" pitchFamily="34" charset="-120"/>
              </a:rPr>
              <a:t>DECISION RULE</a:t>
            </a:r>
            <a:endParaRPr lang="en-US" sz="1800" dirty="0"/>
          </a:p>
        </p:txBody>
      </p:sp>
      <p:sp>
        <p:nvSpPr>
          <p:cNvPr id="22" name="Text 20"/>
          <p:cNvSpPr/>
          <p:nvPr/>
        </p:nvSpPr>
        <p:spPr>
          <a:xfrm>
            <a:off x="4169767" y="7162600"/>
            <a:ext cx="13246762" cy="3644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F6F4EE"/>
                </a:solidFill>
                <a:latin typeface="Arial" pitchFamily="34" charset="0"/>
                <a:ea typeface="Arial" pitchFamily="34" charset="-122"/>
                <a:cs typeface="Arial" pitchFamily="34" charset="-120"/>
              </a:rPr>
              <a:t>Approve if </a:t>
            </a:r>
            <a:r>
              <a:rPr lang="en-US" sz="1800" b="1" dirty="0">
                <a:solidFill>
                  <a:srgbClr val="F6F4EE"/>
                </a:solidFill>
                <a:latin typeface="Arial" pitchFamily="34" charset="0"/>
                <a:ea typeface="Arial" pitchFamily="34" charset="-122"/>
                <a:cs typeface="Arial" pitchFamily="34" charset="-120"/>
              </a:rPr>
              <a:t>P(approval) ≥ 0.2575</a:t>
            </a:r>
            <a:r>
              <a:rPr lang="en-US" sz="1800" dirty="0">
                <a:solidFill>
                  <a:srgbClr val="F6F4EE"/>
                </a:solidFill>
                <a:latin typeface="Arial" pitchFamily="34" charset="0"/>
                <a:ea typeface="Arial" pitchFamily="34" charset="-122"/>
                <a:cs typeface="Arial" pitchFamily="34" charset="-120"/>
              </a:rPr>
              <a:t>. Rejected otherwise — this is where false denials become the key ethical harm.</a:t>
            </a:r>
            <a:endParaRPr lang="en-US" sz="1800" dirty="0"/>
          </a:p>
        </p:txBody>
      </p:sp>
      <p:sp>
        <p:nvSpPr>
          <p:cNvPr id="23" name="Shape 21"/>
          <p:cNvSpPr/>
          <p:nvPr/>
        </p:nvSpPr>
        <p:spPr>
          <a:xfrm>
            <a:off x="952500" y="9343430"/>
            <a:ext cx="16383000" cy="9525"/>
          </a:xfrm>
          <a:prstGeom prst="rect">
            <a:avLst/>
          </a:prstGeom>
          <a:solidFill>
            <a:srgbClr val="C9C3B6"/>
          </a:solidFill>
          <a:ln/>
        </p:spPr>
        <p:txBody>
          <a:bodyPr/>
          <a:lstStyle/>
          <a:p>
            <a:endParaRPr lang="en-US"/>
          </a:p>
        </p:txBody>
      </p:sp>
      <p:sp>
        <p:nvSpPr>
          <p:cNvPr id="24" name="Text 22"/>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METRIC &amp; THRESHOLD</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Specification</a:t>
            </a:r>
            <a:endParaRPr lang="en-US" sz="4800" dirty="0"/>
          </a:p>
        </p:txBody>
      </p:sp>
      <p:sp>
        <p:nvSpPr>
          <p:cNvPr id="7" name="Shape 5"/>
          <p:cNvSpPr/>
          <p:nvPr/>
        </p:nvSpPr>
        <p:spPr>
          <a:xfrm>
            <a:off x="952500" y="3613646"/>
            <a:ext cx="5242521" cy="19050"/>
          </a:xfrm>
          <a:prstGeom prst="rect">
            <a:avLst/>
          </a:prstGeom>
          <a:solidFill>
            <a:srgbClr val="0E1116"/>
          </a:solidFill>
          <a:ln/>
        </p:spPr>
        <p:txBody>
          <a:bodyPr/>
          <a:lstStyle/>
          <a:p>
            <a:endParaRPr lang="en-US"/>
          </a:p>
        </p:txBody>
      </p:sp>
      <p:sp>
        <p:nvSpPr>
          <p:cNvPr id="8" name="Text 6"/>
          <p:cNvSpPr/>
          <p:nvPr/>
        </p:nvSpPr>
        <p:spPr>
          <a:xfrm>
            <a:off x="1181100" y="3162201"/>
            <a:ext cx="4942596" cy="33714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CRITERION</a:t>
            </a:r>
            <a:endParaRPr lang="en-US" sz="1800" dirty="0"/>
          </a:p>
        </p:txBody>
      </p:sp>
      <p:sp>
        <p:nvSpPr>
          <p:cNvPr id="9" name="Shape 7"/>
          <p:cNvSpPr/>
          <p:nvPr/>
        </p:nvSpPr>
        <p:spPr>
          <a:xfrm>
            <a:off x="6195021" y="3613646"/>
            <a:ext cx="11140480" cy="19050"/>
          </a:xfrm>
          <a:prstGeom prst="rect">
            <a:avLst/>
          </a:prstGeom>
          <a:solidFill>
            <a:srgbClr val="0E1116"/>
          </a:solidFill>
          <a:ln/>
        </p:spPr>
        <p:txBody>
          <a:bodyPr/>
          <a:lstStyle/>
          <a:p>
            <a:endParaRPr lang="en-US"/>
          </a:p>
        </p:txBody>
      </p:sp>
      <p:sp>
        <p:nvSpPr>
          <p:cNvPr id="10" name="Text 8"/>
          <p:cNvSpPr/>
          <p:nvPr/>
        </p:nvSpPr>
        <p:spPr>
          <a:xfrm>
            <a:off x="6423621" y="3162201"/>
            <a:ext cx="11017495" cy="33714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SPECIFICATION</a:t>
            </a:r>
            <a:endParaRPr lang="en-US" sz="1800" dirty="0"/>
          </a:p>
        </p:txBody>
      </p:sp>
      <p:sp>
        <p:nvSpPr>
          <p:cNvPr id="11" name="Shape 9"/>
          <p:cNvSpPr/>
          <p:nvPr/>
        </p:nvSpPr>
        <p:spPr>
          <a:xfrm>
            <a:off x="952500" y="4443909"/>
            <a:ext cx="5242521" cy="9525"/>
          </a:xfrm>
          <a:prstGeom prst="rect">
            <a:avLst/>
          </a:prstGeom>
          <a:solidFill>
            <a:srgbClr val="C9C3B6"/>
          </a:solidFill>
          <a:ln/>
        </p:spPr>
        <p:txBody>
          <a:bodyPr/>
          <a:lstStyle/>
          <a:p>
            <a:endParaRPr lang="en-US"/>
          </a:p>
        </p:txBody>
      </p:sp>
      <p:sp>
        <p:nvSpPr>
          <p:cNvPr id="12" name="Text 10"/>
          <p:cNvSpPr/>
          <p:nvPr/>
        </p:nvSpPr>
        <p:spPr>
          <a:xfrm>
            <a:off x="1181100" y="3842246"/>
            <a:ext cx="4942596" cy="43021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0E1116"/>
                </a:solidFill>
                <a:latin typeface="Arial" pitchFamily="34" charset="0"/>
                <a:ea typeface="Arial" pitchFamily="34" charset="-122"/>
                <a:cs typeface="Arial" pitchFamily="34" charset="-120"/>
              </a:rPr>
              <a:t>Metric</a:t>
            </a:r>
            <a:endParaRPr lang="en-US" sz="2250" dirty="0"/>
          </a:p>
        </p:txBody>
      </p:sp>
      <p:sp>
        <p:nvSpPr>
          <p:cNvPr id="13" name="Shape 11"/>
          <p:cNvSpPr/>
          <p:nvPr/>
        </p:nvSpPr>
        <p:spPr>
          <a:xfrm>
            <a:off x="6195021" y="4443909"/>
            <a:ext cx="11140480" cy="9525"/>
          </a:xfrm>
          <a:prstGeom prst="rect">
            <a:avLst/>
          </a:prstGeom>
          <a:solidFill>
            <a:srgbClr val="C9C3B6"/>
          </a:solidFill>
          <a:ln/>
        </p:spPr>
        <p:txBody>
          <a:bodyPr/>
          <a:lstStyle/>
          <a:p>
            <a:endParaRPr lang="en-US"/>
          </a:p>
        </p:txBody>
      </p:sp>
      <p:sp>
        <p:nvSpPr>
          <p:cNvPr id="14" name="Text 12"/>
          <p:cNvSpPr/>
          <p:nvPr/>
        </p:nvSpPr>
        <p:spPr>
          <a:xfrm>
            <a:off x="6423621" y="3842246"/>
            <a:ext cx="11017495" cy="43021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A2F36"/>
                </a:solidFill>
                <a:latin typeface="Arial" pitchFamily="34" charset="0"/>
                <a:ea typeface="Arial" pitchFamily="34" charset="-122"/>
                <a:cs typeface="Arial" pitchFamily="34" charset="-120"/>
              </a:rPr>
              <a:t>F1 Score ≥ 0.886</a:t>
            </a:r>
            <a:endParaRPr lang="en-US" sz="2250" dirty="0"/>
          </a:p>
        </p:txBody>
      </p:sp>
      <p:sp>
        <p:nvSpPr>
          <p:cNvPr id="15" name="Shape 13"/>
          <p:cNvSpPr/>
          <p:nvPr/>
        </p:nvSpPr>
        <p:spPr>
          <a:xfrm>
            <a:off x="952500" y="5255121"/>
            <a:ext cx="5242521" cy="9525"/>
          </a:xfrm>
          <a:prstGeom prst="rect">
            <a:avLst/>
          </a:prstGeom>
          <a:solidFill>
            <a:srgbClr val="C9C3B6"/>
          </a:solidFill>
          <a:ln/>
        </p:spPr>
        <p:txBody>
          <a:bodyPr/>
          <a:lstStyle/>
          <a:p>
            <a:endParaRPr lang="en-US"/>
          </a:p>
        </p:txBody>
      </p:sp>
      <p:sp>
        <p:nvSpPr>
          <p:cNvPr id="16" name="Text 14"/>
          <p:cNvSpPr/>
          <p:nvPr/>
        </p:nvSpPr>
        <p:spPr>
          <a:xfrm>
            <a:off x="1181100" y="4659809"/>
            <a:ext cx="494259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0E1116"/>
                </a:solidFill>
                <a:latin typeface="Arial" pitchFamily="34" charset="0"/>
                <a:ea typeface="Arial" pitchFamily="34" charset="-122"/>
                <a:cs typeface="Arial" pitchFamily="34" charset="-120"/>
              </a:rPr>
              <a:t>Threshold</a:t>
            </a:r>
            <a:endParaRPr lang="en-US" sz="2250" dirty="0"/>
          </a:p>
        </p:txBody>
      </p:sp>
      <p:sp>
        <p:nvSpPr>
          <p:cNvPr id="17" name="Shape 15"/>
          <p:cNvSpPr/>
          <p:nvPr/>
        </p:nvSpPr>
        <p:spPr>
          <a:xfrm>
            <a:off x="6195021" y="5255121"/>
            <a:ext cx="11140480" cy="9525"/>
          </a:xfrm>
          <a:prstGeom prst="rect">
            <a:avLst/>
          </a:prstGeom>
          <a:solidFill>
            <a:srgbClr val="C9C3B6"/>
          </a:solidFill>
          <a:ln/>
        </p:spPr>
        <p:txBody>
          <a:bodyPr/>
          <a:lstStyle/>
          <a:p>
            <a:endParaRPr lang="en-US"/>
          </a:p>
        </p:txBody>
      </p:sp>
      <p:sp>
        <p:nvSpPr>
          <p:cNvPr id="18" name="Text 16"/>
          <p:cNvSpPr/>
          <p:nvPr/>
        </p:nvSpPr>
        <p:spPr>
          <a:xfrm>
            <a:off x="6423621" y="4659809"/>
            <a:ext cx="1101749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A2F36"/>
                </a:solidFill>
                <a:latin typeface="Arial" pitchFamily="34" charset="0"/>
                <a:ea typeface="Arial" pitchFamily="34" charset="-122"/>
                <a:cs typeface="Arial" pitchFamily="34" charset="-120"/>
              </a:rPr>
              <a:t>0.2575 (cutoff probability for approval prediction)</a:t>
            </a:r>
            <a:endParaRPr lang="en-US" sz="2250" dirty="0"/>
          </a:p>
        </p:txBody>
      </p:sp>
      <p:sp>
        <p:nvSpPr>
          <p:cNvPr id="19" name="Shape 17"/>
          <p:cNvSpPr/>
          <p:nvPr/>
        </p:nvSpPr>
        <p:spPr>
          <a:xfrm>
            <a:off x="952500" y="6066334"/>
            <a:ext cx="5242521" cy="9525"/>
          </a:xfrm>
          <a:prstGeom prst="rect">
            <a:avLst/>
          </a:prstGeom>
          <a:solidFill>
            <a:srgbClr val="C9C3B6"/>
          </a:solidFill>
          <a:ln/>
        </p:spPr>
        <p:txBody>
          <a:bodyPr/>
          <a:lstStyle/>
          <a:p>
            <a:endParaRPr lang="en-US"/>
          </a:p>
        </p:txBody>
      </p:sp>
      <p:sp>
        <p:nvSpPr>
          <p:cNvPr id="20" name="Text 18"/>
          <p:cNvSpPr/>
          <p:nvPr/>
        </p:nvSpPr>
        <p:spPr>
          <a:xfrm>
            <a:off x="1181100" y="5471021"/>
            <a:ext cx="494259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0E1116"/>
                </a:solidFill>
                <a:latin typeface="Arial" pitchFamily="34" charset="0"/>
                <a:ea typeface="Arial" pitchFamily="34" charset="-122"/>
                <a:cs typeface="Arial" pitchFamily="34" charset="-120"/>
              </a:rPr>
              <a:t>Optimization Approach</a:t>
            </a:r>
            <a:endParaRPr lang="en-US" sz="2250" dirty="0"/>
          </a:p>
        </p:txBody>
      </p:sp>
      <p:sp>
        <p:nvSpPr>
          <p:cNvPr id="21" name="Shape 19"/>
          <p:cNvSpPr/>
          <p:nvPr/>
        </p:nvSpPr>
        <p:spPr>
          <a:xfrm>
            <a:off x="6195021" y="6066334"/>
            <a:ext cx="11140480" cy="9525"/>
          </a:xfrm>
          <a:prstGeom prst="rect">
            <a:avLst/>
          </a:prstGeom>
          <a:solidFill>
            <a:srgbClr val="C9C3B6"/>
          </a:solidFill>
          <a:ln/>
        </p:spPr>
        <p:txBody>
          <a:bodyPr/>
          <a:lstStyle/>
          <a:p>
            <a:endParaRPr lang="en-US"/>
          </a:p>
        </p:txBody>
      </p:sp>
      <p:sp>
        <p:nvSpPr>
          <p:cNvPr id="22" name="Text 20"/>
          <p:cNvSpPr/>
          <p:nvPr/>
        </p:nvSpPr>
        <p:spPr>
          <a:xfrm>
            <a:off x="6423621" y="5471021"/>
            <a:ext cx="1101749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A2F36"/>
                </a:solidFill>
                <a:latin typeface="Arial" pitchFamily="34" charset="0"/>
                <a:ea typeface="Arial" pitchFamily="34" charset="-122"/>
                <a:cs typeface="Arial" pitchFamily="34" charset="-120"/>
              </a:rPr>
              <a:t>F1-maximization on validation set (balanced precision-recall)</a:t>
            </a:r>
            <a:endParaRPr lang="en-US" sz="2250" dirty="0"/>
          </a:p>
        </p:txBody>
      </p:sp>
      <p:sp>
        <p:nvSpPr>
          <p:cNvPr id="23" name="Text 21"/>
          <p:cNvSpPr/>
          <p:nvPr/>
        </p:nvSpPr>
        <p:spPr>
          <a:xfrm>
            <a:off x="1181100" y="6282234"/>
            <a:ext cx="4942596" cy="427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0E1116"/>
                </a:solidFill>
                <a:latin typeface="Arial" pitchFamily="34" charset="0"/>
                <a:ea typeface="Arial" pitchFamily="34" charset="-122"/>
                <a:cs typeface="Arial" pitchFamily="34" charset="-120"/>
              </a:rPr>
              <a:t>Decision Rule</a:t>
            </a:r>
            <a:endParaRPr lang="en-US" sz="2250" dirty="0"/>
          </a:p>
        </p:txBody>
      </p:sp>
      <p:sp>
        <p:nvSpPr>
          <p:cNvPr id="24" name="Text 22"/>
          <p:cNvSpPr/>
          <p:nvPr/>
        </p:nvSpPr>
        <p:spPr>
          <a:xfrm>
            <a:off x="6423621" y="6282234"/>
            <a:ext cx="11017495" cy="427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A2F36"/>
                </a:solidFill>
                <a:latin typeface="Arial" pitchFamily="34" charset="0"/>
                <a:ea typeface="Arial" pitchFamily="34" charset="-122"/>
                <a:cs typeface="Arial" pitchFamily="34" charset="-120"/>
              </a:rPr>
              <a:t>IF P(approval) ≥ 0.2575 THEN approve; ELSE deny</a:t>
            </a:r>
            <a:endParaRPr lang="en-US" sz="2250" dirty="0"/>
          </a:p>
        </p:txBody>
      </p:sp>
      <p:sp>
        <p:nvSpPr>
          <p:cNvPr id="25" name="Shape 23"/>
          <p:cNvSpPr/>
          <p:nvPr/>
        </p:nvSpPr>
        <p:spPr>
          <a:xfrm>
            <a:off x="952500" y="7109321"/>
            <a:ext cx="16383000" cy="9525"/>
          </a:xfrm>
          <a:prstGeom prst="rect">
            <a:avLst/>
          </a:prstGeom>
          <a:solidFill>
            <a:srgbClr val="C9C3B6"/>
          </a:solidFill>
          <a:ln/>
        </p:spPr>
        <p:txBody>
          <a:bodyPr/>
          <a:lstStyle/>
          <a:p>
            <a:endParaRPr lang="en-US"/>
          </a:p>
        </p:txBody>
      </p:sp>
      <p:sp>
        <p:nvSpPr>
          <p:cNvPr id="26" name="Text 24"/>
          <p:cNvSpPr/>
          <p:nvPr/>
        </p:nvSpPr>
        <p:spPr>
          <a:xfrm>
            <a:off x="952500" y="7382371"/>
            <a:ext cx="350274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WHY THIS THRESHOLD?</a:t>
            </a:r>
            <a:endParaRPr lang="en-US" sz="1800" dirty="0"/>
          </a:p>
        </p:txBody>
      </p:sp>
      <p:sp>
        <p:nvSpPr>
          <p:cNvPr id="27" name="Text 25"/>
          <p:cNvSpPr/>
          <p:nvPr/>
        </p:nvSpPr>
        <p:spPr>
          <a:xfrm>
            <a:off x="4658023" y="7325221"/>
            <a:ext cx="13057802" cy="103227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The validation set was sorted by predicted probability, and the threshold that maximizes F1 was selected. This differs from the common 0.5 default because F1 prioritizes finding the sweet spot between false positives (lender losses) and false negatives (applicant exclusion).</a:t>
            </a:r>
            <a:endParaRPr lang="en-US" sz="1800" dirty="0"/>
          </a:p>
        </p:txBody>
      </p:sp>
      <p:sp>
        <p:nvSpPr>
          <p:cNvPr id="28" name="Shape 26"/>
          <p:cNvSpPr/>
          <p:nvPr/>
        </p:nvSpPr>
        <p:spPr>
          <a:xfrm>
            <a:off x="952500" y="9343430"/>
            <a:ext cx="16383000" cy="9525"/>
          </a:xfrm>
          <a:prstGeom prst="rect">
            <a:avLst/>
          </a:prstGeom>
          <a:solidFill>
            <a:srgbClr val="C9C3B6"/>
          </a:solidFill>
          <a:ln/>
        </p:spPr>
        <p:txBody>
          <a:bodyPr/>
          <a:lstStyle/>
          <a:p>
            <a:endParaRPr lang="en-US"/>
          </a:p>
        </p:txBody>
      </p:sp>
      <p:sp>
        <p:nvSpPr>
          <p:cNvPr id="29" name="Text 27"/>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05152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BUSINESS RATIONALE</a:t>
            </a:r>
            <a:endParaRPr lang="en-US" sz="1800" dirty="0"/>
          </a:p>
        </p:txBody>
      </p:sp>
      <p:sp>
        <p:nvSpPr>
          <p:cNvPr id="6" name="Text 4"/>
          <p:cNvSpPr/>
          <p:nvPr/>
        </p:nvSpPr>
        <p:spPr>
          <a:xfrm>
            <a:off x="952500" y="153154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Two sides of the F1 balance</a:t>
            </a:r>
            <a:endParaRPr lang="en-US" sz="4800" dirty="0"/>
          </a:p>
        </p:txBody>
      </p:sp>
      <p:sp>
        <p:nvSpPr>
          <p:cNvPr id="7" name="Text 5"/>
          <p:cNvSpPr/>
          <p:nvPr/>
        </p:nvSpPr>
        <p:spPr>
          <a:xfrm>
            <a:off x="952500" y="2400201"/>
            <a:ext cx="819197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FOR LENDERS</a:t>
            </a:r>
            <a:endParaRPr lang="en-US" sz="1800" dirty="0"/>
          </a:p>
        </p:txBody>
      </p:sp>
      <p:sp>
        <p:nvSpPr>
          <p:cNvPr id="8" name="Shape 6"/>
          <p:cNvSpPr/>
          <p:nvPr/>
        </p:nvSpPr>
        <p:spPr>
          <a:xfrm>
            <a:off x="952500" y="3884712"/>
            <a:ext cx="7953375" cy="9525"/>
          </a:xfrm>
          <a:prstGeom prst="rect">
            <a:avLst/>
          </a:prstGeom>
          <a:solidFill>
            <a:srgbClr val="E2DDD0"/>
          </a:solidFill>
          <a:ln/>
        </p:spPr>
        <p:txBody>
          <a:bodyPr/>
          <a:lstStyle/>
          <a:p>
            <a:endParaRPr lang="en-US"/>
          </a:p>
        </p:txBody>
      </p:sp>
      <p:sp>
        <p:nvSpPr>
          <p:cNvPr id="9" name="Text 7"/>
          <p:cNvSpPr/>
          <p:nvPr/>
        </p:nvSpPr>
        <p:spPr>
          <a:xfrm>
            <a:off x="1333500" y="3051671"/>
            <a:ext cx="7799546" cy="73779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2A2F36"/>
                </a:solidFill>
                <a:latin typeface="Arial" pitchFamily="34" charset="0"/>
                <a:ea typeface="Arial" pitchFamily="34" charset="-122"/>
                <a:cs typeface="Arial" pitchFamily="34" charset="-120"/>
              </a:rPr>
              <a:t>Mortgage lending requires </a:t>
            </a:r>
            <a:r>
              <a:rPr lang="en-US" sz="1950" b="1" dirty="0">
                <a:solidFill>
                  <a:srgbClr val="0E1116"/>
                </a:solidFill>
                <a:latin typeface="Arial" pitchFamily="34" charset="0"/>
                <a:ea typeface="Arial" pitchFamily="34" charset="-122"/>
                <a:cs typeface="Arial" pitchFamily="34" charset="-120"/>
              </a:rPr>
              <a:t>minimizing credit risk </a:t>
            </a:r>
            <a:r>
              <a:rPr lang="en-US" sz="1950" dirty="0">
                <a:solidFill>
                  <a:srgbClr val="2A2F36"/>
                </a:solidFill>
                <a:latin typeface="Arial" pitchFamily="34" charset="0"/>
                <a:ea typeface="Arial" pitchFamily="34" charset="-122"/>
                <a:cs typeface="Arial" pitchFamily="34" charset="-120"/>
              </a:rPr>
              <a:t>(false positives) — lending to unqualified borrowers who default is costly</a:t>
            </a:r>
            <a:endParaRPr lang="en-US" sz="1950" dirty="0"/>
          </a:p>
        </p:txBody>
      </p:sp>
      <p:sp>
        <p:nvSpPr>
          <p:cNvPr id="10" name="Shape 8"/>
          <p:cNvSpPr/>
          <p:nvPr/>
        </p:nvSpPr>
        <p:spPr>
          <a:xfrm>
            <a:off x="952500" y="4857453"/>
            <a:ext cx="7953375" cy="9525"/>
          </a:xfrm>
          <a:prstGeom prst="rect">
            <a:avLst/>
          </a:prstGeom>
          <a:solidFill>
            <a:srgbClr val="E2DDD0"/>
          </a:solidFill>
          <a:ln/>
        </p:spPr>
        <p:txBody>
          <a:bodyPr/>
          <a:lstStyle/>
          <a:p>
            <a:endParaRPr lang="en-US"/>
          </a:p>
        </p:txBody>
      </p:sp>
      <p:sp>
        <p:nvSpPr>
          <p:cNvPr id="11" name="Text 9"/>
          <p:cNvSpPr/>
          <p:nvPr/>
        </p:nvSpPr>
        <p:spPr>
          <a:xfrm>
            <a:off x="1333500" y="4024412"/>
            <a:ext cx="7799546" cy="73779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2A2F36"/>
                </a:solidFill>
                <a:latin typeface="Arial" pitchFamily="34" charset="0"/>
                <a:ea typeface="Arial" pitchFamily="34" charset="-122"/>
                <a:cs typeface="Arial" pitchFamily="34" charset="-120"/>
              </a:rPr>
              <a:t>F1 helps balance this by maintaining </a:t>
            </a:r>
            <a:r>
              <a:rPr lang="en-US" sz="1950" b="1" dirty="0">
                <a:solidFill>
                  <a:srgbClr val="0E1116"/>
                </a:solidFill>
                <a:latin typeface="Arial" pitchFamily="34" charset="0"/>
                <a:ea typeface="Arial" pitchFamily="34" charset="-122"/>
                <a:cs typeface="Arial" pitchFamily="34" charset="-120"/>
              </a:rPr>
              <a:t>high precision </a:t>
            </a:r>
            <a:r>
              <a:rPr lang="en-US" sz="1950" dirty="0">
                <a:solidFill>
                  <a:srgbClr val="2A2F36"/>
                </a:solidFill>
                <a:latin typeface="Arial" pitchFamily="34" charset="0"/>
                <a:ea typeface="Arial" pitchFamily="34" charset="-122"/>
                <a:cs typeface="Arial" pitchFamily="34" charset="-120"/>
              </a:rPr>
              <a:t>(91% of approved applicants actually repay)</a:t>
            </a:r>
            <a:endParaRPr lang="en-US" sz="1950" dirty="0"/>
          </a:p>
        </p:txBody>
      </p:sp>
      <p:sp>
        <p:nvSpPr>
          <p:cNvPr id="12" name="Text 10"/>
          <p:cNvSpPr/>
          <p:nvPr/>
        </p:nvSpPr>
        <p:spPr>
          <a:xfrm>
            <a:off x="9382125" y="2400201"/>
            <a:ext cx="819197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FOR APPLICANTS &amp; FAIRNESS</a:t>
            </a:r>
            <a:endParaRPr lang="en-US" sz="1800" dirty="0"/>
          </a:p>
        </p:txBody>
      </p:sp>
      <p:sp>
        <p:nvSpPr>
          <p:cNvPr id="13" name="Shape 11"/>
          <p:cNvSpPr/>
          <p:nvPr/>
        </p:nvSpPr>
        <p:spPr>
          <a:xfrm>
            <a:off x="9382125" y="3884712"/>
            <a:ext cx="7953375" cy="9525"/>
          </a:xfrm>
          <a:prstGeom prst="rect">
            <a:avLst/>
          </a:prstGeom>
          <a:solidFill>
            <a:srgbClr val="E2DDD0"/>
          </a:solidFill>
          <a:ln/>
        </p:spPr>
        <p:txBody>
          <a:bodyPr/>
          <a:lstStyle/>
          <a:p>
            <a:endParaRPr lang="en-US"/>
          </a:p>
        </p:txBody>
      </p:sp>
      <p:sp>
        <p:nvSpPr>
          <p:cNvPr id="14" name="Text 12"/>
          <p:cNvSpPr/>
          <p:nvPr/>
        </p:nvSpPr>
        <p:spPr>
          <a:xfrm>
            <a:off x="9763125" y="3051671"/>
            <a:ext cx="7799546" cy="73779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2A2F36"/>
                </a:solidFill>
                <a:latin typeface="Arial" pitchFamily="34" charset="0"/>
                <a:ea typeface="Arial" pitchFamily="34" charset="-122"/>
                <a:cs typeface="Arial" pitchFamily="34" charset="-120"/>
              </a:rPr>
              <a:t>The U.S. mortgage market is critical infrastructure for wealth-building; </a:t>
            </a:r>
            <a:r>
              <a:rPr lang="en-US" sz="1950" b="1" dirty="0">
                <a:solidFill>
                  <a:srgbClr val="0E1116"/>
                </a:solidFill>
                <a:latin typeface="Arial" pitchFamily="34" charset="0"/>
                <a:ea typeface="Arial" pitchFamily="34" charset="-122"/>
                <a:cs typeface="Arial" pitchFamily="34" charset="-120"/>
              </a:rPr>
              <a:t>wrongful denials = long-term economic exclusion</a:t>
            </a:r>
            <a:endParaRPr lang="en-US" sz="1950" dirty="0"/>
          </a:p>
        </p:txBody>
      </p:sp>
      <p:sp>
        <p:nvSpPr>
          <p:cNvPr id="15" name="Shape 13"/>
          <p:cNvSpPr/>
          <p:nvPr/>
        </p:nvSpPr>
        <p:spPr>
          <a:xfrm>
            <a:off x="9382125" y="4863803"/>
            <a:ext cx="7953375" cy="9525"/>
          </a:xfrm>
          <a:prstGeom prst="rect">
            <a:avLst/>
          </a:prstGeom>
          <a:solidFill>
            <a:srgbClr val="E2DDD0"/>
          </a:solidFill>
          <a:ln/>
        </p:spPr>
        <p:txBody>
          <a:bodyPr/>
          <a:lstStyle/>
          <a:p>
            <a:endParaRPr lang="en-US"/>
          </a:p>
        </p:txBody>
      </p:sp>
      <p:sp>
        <p:nvSpPr>
          <p:cNvPr id="16" name="Text 14"/>
          <p:cNvSpPr/>
          <p:nvPr/>
        </p:nvSpPr>
        <p:spPr>
          <a:xfrm>
            <a:off x="9763125" y="4024412"/>
            <a:ext cx="7799546" cy="74414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2A2F36"/>
                </a:solidFill>
                <a:latin typeface="Arial" pitchFamily="34" charset="0"/>
                <a:ea typeface="Arial" pitchFamily="34" charset="-122"/>
                <a:cs typeface="Arial" pitchFamily="34" charset="-120"/>
              </a:rPr>
              <a:t>HMDA regulations (12 CFR 1003) require lenders to </a:t>
            </a:r>
            <a:r>
              <a:rPr lang="en-US" sz="1950" b="1" dirty="0">
                <a:solidFill>
                  <a:srgbClr val="0E1116"/>
                </a:solidFill>
                <a:latin typeface="Arial" pitchFamily="34" charset="0"/>
                <a:ea typeface="Arial" pitchFamily="34" charset="-122"/>
                <a:cs typeface="Arial" pitchFamily="34" charset="-120"/>
              </a:rPr>
              <a:t>avoid discrimination </a:t>
            </a:r>
            <a:r>
              <a:rPr lang="en-US" sz="1950" dirty="0">
                <a:solidFill>
                  <a:srgbClr val="2A2F36"/>
                </a:solidFill>
                <a:latin typeface="Arial" pitchFamily="34" charset="0"/>
                <a:ea typeface="Arial" pitchFamily="34" charset="-122"/>
                <a:cs typeface="Arial" pitchFamily="34" charset="-120"/>
              </a:rPr>
              <a:t>based on protected attributes</a:t>
            </a:r>
            <a:endParaRPr lang="en-US" sz="1950" dirty="0"/>
          </a:p>
        </p:txBody>
      </p:sp>
      <p:sp>
        <p:nvSpPr>
          <p:cNvPr id="17" name="Shape 15"/>
          <p:cNvSpPr/>
          <p:nvPr/>
        </p:nvSpPr>
        <p:spPr>
          <a:xfrm>
            <a:off x="952500" y="5022553"/>
            <a:ext cx="16383000" cy="9525"/>
          </a:xfrm>
          <a:prstGeom prst="rect">
            <a:avLst/>
          </a:prstGeom>
          <a:solidFill>
            <a:srgbClr val="C9C3B6"/>
          </a:solidFill>
          <a:ln/>
        </p:spPr>
        <p:txBody>
          <a:bodyPr/>
          <a:lstStyle/>
          <a:p>
            <a:endParaRPr lang="en-US"/>
          </a:p>
        </p:txBody>
      </p:sp>
      <p:sp>
        <p:nvSpPr>
          <p:cNvPr id="18" name="Text 16"/>
          <p:cNvSpPr/>
          <p:nvPr/>
        </p:nvSpPr>
        <p:spPr>
          <a:xfrm>
            <a:off x="952500" y="5162252"/>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THIS MODEL CONNECTS LENDING DECISIONS TO APPLICANT CONSEQUENCES</a:t>
            </a:r>
            <a:endParaRPr lang="en-US" sz="1800" dirty="0"/>
          </a:p>
        </p:txBody>
      </p:sp>
      <p:sp>
        <p:nvSpPr>
          <p:cNvPr id="19" name="Text 17"/>
          <p:cNvSpPr/>
          <p:nvPr/>
        </p:nvSpPr>
        <p:spPr>
          <a:xfrm>
            <a:off x="952500" y="5566073"/>
            <a:ext cx="8260652"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1F6B47"/>
                </a:solidFill>
                <a:latin typeface="Arial" pitchFamily="34" charset="0"/>
                <a:ea typeface="Arial" pitchFamily="34" charset="-122"/>
                <a:cs typeface="Arial" pitchFamily="34" charset="-120"/>
              </a:rPr>
              <a:t>Approved (~81% of applicants)</a:t>
            </a:r>
            <a:endParaRPr lang="en-US" sz="1950" dirty="0"/>
          </a:p>
        </p:txBody>
      </p:sp>
      <p:sp>
        <p:nvSpPr>
          <p:cNvPr id="20" name="Text 18"/>
          <p:cNvSpPr/>
          <p:nvPr/>
        </p:nvSpPr>
        <p:spPr>
          <a:xfrm>
            <a:off x="952500" y="5957491"/>
            <a:ext cx="8260652" cy="33526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2A2F36"/>
                </a:solidFill>
                <a:latin typeface="Arial" pitchFamily="34" charset="0"/>
                <a:ea typeface="Arial" pitchFamily="34" charset="-122"/>
                <a:cs typeface="Arial" pitchFamily="34" charset="-120"/>
              </a:rPr>
              <a:t>Access to credit, homeownership pathway, generational wealth</a:t>
            </a:r>
            <a:endParaRPr lang="en-US" sz="1800" dirty="0"/>
          </a:p>
        </p:txBody>
      </p:sp>
      <p:sp>
        <p:nvSpPr>
          <p:cNvPr id="21" name="Text 19"/>
          <p:cNvSpPr/>
          <p:nvPr/>
        </p:nvSpPr>
        <p:spPr>
          <a:xfrm>
            <a:off x="9315450" y="5566073"/>
            <a:ext cx="8260652"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B0361C"/>
                </a:solidFill>
                <a:latin typeface="Arial" pitchFamily="34" charset="0"/>
                <a:ea typeface="Arial" pitchFamily="34" charset="-122"/>
                <a:cs typeface="Arial" pitchFamily="34" charset="-120"/>
              </a:rPr>
              <a:t>Denied (~19% of applicants)</a:t>
            </a:r>
            <a:endParaRPr lang="en-US" sz="1950" dirty="0"/>
          </a:p>
        </p:txBody>
      </p:sp>
      <p:sp>
        <p:nvSpPr>
          <p:cNvPr id="22" name="Text 20"/>
          <p:cNvSpPr/>
          <p:nvPr/>
        </p:nvSpPr>
        <p:spPr>
          <a:xfrm>
            <a:off x="9315450" y="5957491"/>
            <a:ext cx="8260652" cy="63242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2A2F36"/>
                </a:solidFill>
                <a:latin typeface="Arial" pitchFamily="34" charset="0"/>
                <a:ea typeface="Arial" pitchFamily="34" charset="-122"/>
                <a:cs typeface="Arial" pitchFamily="34" charset="-120"/>
              </a:rPr>
              <a:t>Exclusion from mortgage market, forced into subprime/rental markets, household financial instability</a:t>
            </a:r>
            <a:endParaRPr lang="en-US" sz="1800" dirty="0"/>
          </a:p>
        </p:txBody>
      </p:sp>
      <p:sp>
        <p:nvSpPr>
          <p:cNvPr id="23" name="Shape 21"/>
          <p:cNvSpPr/>
          <p:nvPr/>
        </p:nvSpPr>
        <p:spPr>
          <a:xfrm>
            <a:off x="952500" y="9343430"/>
            <a:ext cx="16383000" cy="9525"/>
          </a:xfrm>
          <a:prstGeom prst="rect">
            <a:avLst/>
          </a:prstGeom>
          <a:solidFill>
            <a:srgbClr val="C9C3B6"/>
          </a:solidFill>
          <a:ln/>
        </p:spPr>
        <p:txBody>
          <a:bodyPr/>
          <a:lstStyle/>
          <a:p>
            <a:endParaRPr lang="en-US"/>
          </a:p>
        </p:txBody>
      </p:sp>
      <p:sp>
        <p:nvSpPr>
          <p:cNvPr id="24" name="Text 22"/>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3372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BUSINESS CONTEXT</a:t>
            </a:r>
            <a:endParaRPr lang="en-US" sz="1800" dirty="0"/>
          </a:p>
        </p:txBody>
      </p:sp>
      <p:sp>
        <p:nvSpPr>
          <p:cNvPr id="6" name="Text 4"/>
          <p:cNvSpPr/>
          <p:nvPr/>
        </p:nvSpPr>
        <p:spPr>
          <a:xfrm>
            <a:off x="952500" y="18172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Mortgage decisions are high-stakes ML decisions</a:t>
            </a:r>
            <a:endParaRPr lang="en-US" sz="4800" dirty="0"/>
          </a:p>
        </p:txBody>
      </p:sp>
      <p:sp>
        <p:nvSpPr>
          <p:cNvPr id="7" name="Text 5"/>
          <p:cNvSpPr/>
          <p:nvPr/>
        </p:nvSpPr>
        <p:spPr>
          <a:xfrm>
            <a:off x="952500" y="2628801"/>
            <a:ext cx="14716125" cy="895350"/>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2700" dirty="0">
                <a:solidFill>
                  <a:srgbClr val="2A2F36"/>
                </a:solidFill>
                <a:latin typeface="Arial" pitchFamily="34" charset="0"/>
                <a:ea typeface="Arial" pitchFamily="34" charset="-122"/>
                <a:cs typeface="Arial" pitchFamily="34" charset="-120"/>
              </a:rPr>
              <a:t>The harm is not only statistical: lending errors affect access to housing, credit, and wealth creation.</a:t>
            </a:r>
            <a:endParaRPr lang="en-US" sz="2700" dirty="0"/>
          </a:p>
        </p:txBody>
      </p:sp>
      <p:sp>
        <p:nvSpPr>
          <p:cNvPr id="8" name="Shape 6"/>
          <p:cNvSpPr/>
          <p:nvPr/>
        </p:nvSpPr>
        <p:spPr>
          <a:xfrm>
            <a:off x="952500" y="3867051"/>
            <a:ext cx="5257800" cy="19050"/>
          </a:xfrm>
          <a:prstGeom prst="rect">
            <a:avLst/>
          </a:prstGeom>
          <a:solidFill>
            <a:srgbClr val="0E1116"/>
          </a:solidFill>
          <a:ln/>
        </p:spPr>
        <p:txBody>
          <a:bodyPr/>
          <a:lstStyle/>
          <a:p>
            <a:endParaRPr lang="en-US"/>
          </a:p>
        </p:txBody>
      </p:sp>
      <p:sp>
        <p:nvSpPr>
          <p:cNvPr id="9" name="Text 7"/>
          <p:cNvSpPr/>
          <p:nvPr/>
        </p:nvSpPr>
        <p:spPr>
          <a:xfrm>
            <a:off x="952500" y="4076601"/>
            <a:ext cx="541553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5C636E"/>
                </a:solidFill>
                <a:latin typeface="Arial" pitchFamily="34" charset="0"/>
                <a:ea typeface="Arial" pitchFamily="34" charset="-122"/>
                <a:cs typeface="Arial" pitchFamily="34" charset="-120"/>
              </a:rPr>
              <a:t>HMDA</a:t>
            </a:r>
            <a:endParaRPr lang="en-US" sz="1800" dirty="0"/>
          </a:p>
        </p:txBody>
      </p:sp>
      <p:sp>
        <p:nvSpPr>
          <p:cNvPr id="10" name="Text 8"/>
          <p:cNvSpPr/>
          <p:nvPr/>
        </p:nvSpPr>
        <p:spPr>
          <a:xfrm>
            <a:off x="952500" y="4499471"/>
            <a:ext cx="5415534"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0E1116"/>
                </a:solidFill>
                <a:latin typeface="Arial" pitchFamily="34" charset="0"/>
                <a:ea typeface="Arial" pitchFamily="34" charset="-122"/>
                <a:cs typeface="Arial" pitchFamily="34" charset="-120"/>
              </a:rPr>
              <a:t>Public mortgage-lending context</a:t>
            </a:r>
            <a:endParaRPr lang="en-US" sz="3600" dirty="0"/>
          </a:p>
        </p:txBody>
      </p:sp>
      <p:sp>
        <p:nvSpPr>
          <p:cNvPr id="11" name="Shape 9"/>
          <p:cNvSpPr/>
          <p:nvPr/>
        </p:nvSpPr>
        <p:spPr>
          <a:xfrm>
            <a:off x="6515100" y="3867051"/>
            <a:ext cx="5257800" cy="19050"/>
          </a:xfrm>
          <a:prstGeom prst="rect">
            <a:avLst/>
          </a:prstGeom>
          <a:solidFill>
            <a:srgbClr val="0E1116"/>
          </a:solidFill>
          <a:ln/>
        </p:spPr>
        <p:txBody>
          <a:bodyPr/>
          <a:lstStyle/>
          <a:p>
            <a:endParaRPr lang="en-US"/>
          </a:p>
        </p:txBody>
      </p:sp>
      <p:sp>
        <p:nvSpPr>
          <p:cNvPr id="12" name="Text 10"/>
          <p:cNvSpPr/>
          <p:nvPr/>
        </p:nvSpPr>
        <p:spPr>
          <a:xfrm>
            <a:off x="6515100" y="4076601"/>
            <a:ext cx="541553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5C636E"/>
                </a:solidFill>
                <a:latin typeface="Arial" pitchFamily="34" charset="0"/>
                <a:ea typeface="Arial" pitchFamily="34" charset="-122"/>
                <a:cs typeface="Arial" pitchFamily="34" charset="-120"/>
              </a:rPr>
              <a:t>RACE + SEX</a:t>
            </a:r>
            <a:endParaRPr lang="en-US" sz="1800" dirty="0"/>
          </a:p>
        </p:txBody>
      </p:sp>
      <p:sp>
        <p:nvSpPr>
          <p:cNvPr id="13" name="Text 11"/>
          <p:cNvSpPr/>
          <p:nvPr/>
        </p:nvSpPr>
        <p:spPr>
          <a:xfrm>
            <a:off x="6515100" y="4499471"/>
            <a:ext cx="5415534"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0E1116"/>
                </a:solidFill>
                <a:latin typeface="Arial" pitchFamily="34" charset="0"/>
                <a:ea typeface="Arial" pitchFamily="34" charset="-122"/>
                <a:cs typeface="Arial" pitchFamily="34" charset="-120"/>
              </a:rPr>
              <a:t>Protected groups audited</a:t>
            </a:r>
            <a:endParaRPr lang="en-US" sz="3600" dirty="0"/>
          </a:p>
        </p:txBody>
      </p:sp>
      <p:sp>
        <p:nvSpPr>
          <p:cNvPr id="14" name="Shape 12"/>
          <p:cNvSpPr/>
          <p:nvPr/>
        </p:nvSpPr>
        <p:spPr>
          <a:xfrm>
            <a:off x="12077700" y="3867051"/>
            <a:ext cx="5257800" cy="19050"/>
          </a:xfrm>
          <a:prstGeom prst="rect">
            <a:avLst/>
          </a:prstGeom>
          <a:solidFill>
            <a:srgbClr val="0E1116"/>
          </a:solidFill>
          <a:ln/>
        </p:spPr>
        <p:txBody>
          <a:bodyPr/>
          <a:lstStyle/>
          <a:p>
            <a:endParaRPr lang="en-US"/>
          </a:p>
        </p:txBody>
      </p:sp>
      <p:sp>
        <p:nvSpPr>
          <p:cNvPr id="15" name="Text 13"/>
          <p:cNvSpPr/>
          <p:nvPr/>
        </p:nvSpPr>
        <p:spPr>
          <a:xfrm>
            <a:off x="12077700" y="4076601"/>
            <a:ext cx="541553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5C636E"/>
                </a:solidFill>
                <a:latin typeface="Arial" pitchFamily="34" charset="0"/>
                <a:ea typeface="Arial" pitchFamily="34" charset="-122"/>
                <a:cs typeface="Arial" pitchFamily="34" charset="-120"/>
              </a:rPr>
              <a:t>4/5 RULE</a:t>
            </a:r>
            <a:endParaRPr lang="en-US" sz="1800" dirty="0"/>
          </a:p>
        </p:txBody>
      </p:sp>
      <p:sp>
        <p:nvSpPr>
          <p:cNvPr id="16" name="Text 14"/>
          <p:cNvSpPr/>
          <p:nvPr/>
        </p:nvSpPr>
        <p:spPr>
          <a:xfrm>
            <a:off x="12077700" y="4499471"/>
            <a:ext cx="5415534"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0E1116"/>
                </a:solidFill>
                <a:latin typeface="Arial" pitchFamily="34" charset="0"/>
                <a:ea typeface="Arial" pitchFamily="34" charset="-122"/>
                <a:cs typeface="Arial" pitchFamily="34" charset="-120"/>
              </a:rPr>
              <a:t>AIR &lt; 0.80 red flag</a:t>
            </a:r>
            <a:endParaRPr lang="en-US" sz="3600" dirty="0"/>
          </a:p>
        </p:txBody>
      </p:sp>
      <p:sp>
        <p:nvSpPr>
          <p:cNvPr id="17" name="Text 15"/>
          <p:cNvSpPr/>
          <p:nvPr/>
        </p:nvSpPr>
        <p:spPr>
          <a:xfrm>
            <a:off x="952500" y="5794871"/>
            <a:ext cx="7313403"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A WRONG DENIAL CAN MEAN</a:t>
            </a:r>
            <a:endParaRPr lang="en-US" sz="1800" dirty="0"/>
          </a:p>
        </p:txBody>
      </p:sp>
      <p:sp>
        <p:nvSpPr>
          <p:cNvPr id="18" name="Text 16"/>
          <p:cNvSpPr/>
          <p:nvPr/>
        </p:nvSpPr>
        <p:spPr>
          <a:xfrm>
            <a:off x="960615" y="6312991"/>
            <a:ext cx="4220985" cy="3136702"/>
          </a:xfrm>
          <a:prstGeom prst="rect">
            <a:avLst/>
          </a:prstGeom>
          <a:noFill/>
          <a:ln/>
        </p:spPr>
        <p:txBody>
          <a:bodyPr wrap="square" lIns="25400" tIns="25400" rIns="25400" bIns="25400" rtlCol="0" anchor="t">
            <a:norm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Delayed homeownership</a:t>
            </a:r>
            <a:endParaRPr lang="en-US" sz="2000" dirty="0"/>
          </a:p>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Higher borrowing costs</a:t>
            </a:r>
            <a:endParaRPr lang="en-US" sz="2000" dirty="0"/>
          </a:p>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Reduced credit access</a:t>
            </a:r>
            <a:endParaRPr lang="en-US" sz="2000" dirty="0"/>
          </a:p>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Lost wealth-building opportunity</a:t>
            </a:r>
            <a:endParaRPr lang="en-US" sz="2000" dirty="0"/>
          </a:p>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Regulatory and reputational risk</a:t>
            </a:r>
            <a:endParaRPr lang="en-US" sz="2000" dirty="0"/>
          </a:p>
        </p:txBody>
      </p:sp>
      <p:sp>
        <p:nvSpPr>
          <p:cNvPr id="19" name="Text 17"/>
          <p:cNvSpPr/>
          <p:nvPr/>
        </p:nvSpPr>
        <p:spPr>
          <a:xfrm>
            <a:off x="12103100" y="5853262"/>
            <a:ext cx="3565525"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AUDIT QUESTION</a:t>
            </a:r>
            <a:endParaRPr lang="en-US" sz="1800" dirty="0"/>
          </a:p>
        </p:txBody>
      </p:sp>
      <p:sp>
        <p:nvSpPr>
          <p:cNvPr id="20" name="Text 18"/>
          <p:cNvSpPr/>
          <p:nvPr/>
        </p:nvSpPr>
        <p:spPr>
          <a:xfrm>
            <a:off x="12103100" y="6371382"/>
            <a:ext cx="4553163" cy="1226641"/>
          </a:xfrm>
          <a:prstGeom prst="rect">
            <a:avLst/>
          </a:prstGeom>
          <a:noFill/>
          <a:ln/>
        </p:spPr>
        <p:txBody>
          <a:bodyPr wrap="square" lIns="25400" tIns="25400" rIns="25400" bIns="25400" rtlCol="0" anchor="t">
            <a:noAutofit/>
          </a:bodyPr>
          <a:lstStyle/>
          <a:p>
            <a:pPr marL="0" indent="0" algn="l">
              <a:lnSpc>
                <a:spcPct val="130000"/>
              </a:lnSpc>
              <a:buNone/>
            </a:pPr>
            <a:r>
              <a:rPr lang="en-US" sz="2000" dirty="0">
                <a:solidFill>
                  <a:srgbClr val="0E1116"/>
                </a:solidFill>
                <a:latin typeface="Arial" pitchFamily="34" charset="0"/>
                <a:ea typeface="Arial" pitchFamily="34" charset="-122"/>
                <a:cs typeface="Arial" pitchFamily="34" charset="-120"/>
              </a:rPr>
              <a:t>Can this model support mortgage decisions without creating unjustified disparate impact — and can it be defended to community, legal, and fintech stakeholders?</a:t>
            </a:r>
            <a:endParaRPr lang="en-US" sz="2000" dirty="0"/>
          </a:p>
        </p:txBody>
      </p:sp>
      <p:sp>
        <p:nvSpPr>
          <p:cNvPr id="21" name="Shape 19"/>
          <p:cNvSpPr/>
          <p:nvPr/>
        </p:nvSpPr>
        <p:spPr>
          <a:xfrm>
            <a:off x="952500" y="9411593"/>
            <a:ext cx="16383000" cy="9525"/>
          </a:xfrm>
          <a:prstGeom prst="rect">
            <a:avLst/>
          </a:prstGeom>
          <a:solidFill>
            <a:srgbClr val="C9C3B6"/>
          </a:solidFill>
          <a:ln/>
        </p:spPr>
        <p:txBody>
          <a:bodyPr/>
          <a:lstStyle/>
          <a:p>
            <a:endParaRPr lang="en-US"/>
          </a:p>
        </p:txBody>
      </p:sp>
      <p:sp>
        <p:nvSpPr>
          <p:cNvPr id="22" name="Text 20"/>
          <p:cNvSpPr/>
          <p:nvPr/>
        </p:nvSpPr>
        <p:spPr>
          <a:xfrm>
            <a:off x="952500" y="9627493"/>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THE CORE TENSION</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Accuracy is not fairness</a:t>
            </a:r>
            <a:endParaRPr lang="en-US" sz="4800" dirty="0"/>
          </a:p>
        </p:txBody>
      </p:sp>
      <p:sp>
        <p:nvSpPr>
          <p:cNvPr id="7" name="Shape 5"/>
          <p:cNvSpPr/>
          <p:nvPr/>
        </p:nvSpPr>
        <p:spPr>
          <a:xfrm>
            <a:off x="952500" y="3295551"/>
            <a:ext cx="16383000" cy="3306961"/>
          </a:xfrm>
          <a:prstGeom prst="rect">
            <a:avLst/>
          </a:prstGeom>
          <a:solidFill>
            <a:srgbClr val="EFEBDF"/>
          </a:solidFill>
          <a:ln/>
        </p:spPr>
        <p:txBody>
          <a:bodyPr/>
          <a:lstStyle/>
          <a:p>
            <a:endParaRPr lang="en-US"/>
          </a:p>
        </p:txBody>
      </p:sp>
      <p:sp>
        <p:nvSpPr>
          <p:cNvPr id="8" name="Shape 6"/>
          <p:cNvSpPr/>
          <p:nvPr/>
        </p:nvSpPr>
        <p:spPr>
          <a:xfrm>
            <a:off x="952500" y="3295551"/>
            <a:ext cx="57150" cy="3306961"/>
          </a:xfrm>
          <a:prstGeom prst="rect">
            <a:avLst/>
          </a:prstGeom>
          <a:solidFill>
            <a:srgbClr val="B0361C"/>
          </a:solidFill>
          <a:ln/>
        </p:spPr>
        <p:txBody>
          <a:bodyPr/>
          <a:lstStyle/>
          <a:p>
            <a:endParaRPr lang="en-US"/>
          </a:p>
        </p:txBody>
      </p:sp>
      <p:sp>
        <p:nvSpPr>
          <p:cNvPr id="9" name="Text 7"/>
          <p:cNvSpPr/>
          <p:nvPr/>
        </p:nvSpPr>
        <p:spPr>
          <a:xfrm>
            <a:off x="1847850" y="4057551"/>
            <a:ext cx="15088933" cy="1821061"/>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900" kern="0" spc="-58" dirty="0">
                <a:solidFill>
                  <a:srgbClr val="0E1116"/>
                </a:solidFill>
                <a:latin typeface="Arial" pitchFamily="34" charset="0"/>
                <a:ea typeface="Arial" pitchFamily="34" charset="-122"/>
                <a:cs typeface="Arial" pitchFamily="34" charset="-120"/>
              </a:rPr>
              <a:t>F1 optimization balances </a:t>
            </a:r>
            <a:r>
              <a:rPr lang="en-US" sz="3900" i="1" kern="0" spc="-58" dirty="0">
                <a:solidFill>
                  <a:srgbClr val="0E1116"/>
                </a:solidFill>
                <a:latin typeface="Arial" pitchFamily="34" charset="0"/>
                <a:ea typeface="Arial" pitchFamily="34" charset="-122"/>
                <a:cs typeface="Arial" pitchFamily="34" charset="-120"/>
              </a:rPr>
              <a:t>lender safety </a:t>
            </a:r>
            <a:r>
              <a:rPr lang="en-US" sz="3900" kern="0" spc="-58" dirty="0">
                <a:solidFill>
                  <a:srgbClr val="0E1116"/>
                </a:solidFill>
                <a:latin typeface="Arial" pitchFamily="34" charset="0"/>
                <a:ea typeface="Arial" pitchFamily="34" charset="-122"/>
                <a:cs typeface="Arial" pitchFamily="34" charset="-120"/>
              </a:rPr>
              <a:t>and </a:t>
            </a:r>
            <a:r>
              <a:rPr lang="en-US" sz="3900" i="1" kern="0" spc="-58" dirty="0">
                <a:solidFill>
                  <a:srgbClr val="0E1116"/>
                </a:solidFill>
                <a:latin typeface="Arial" pitchFamily="34" charset="0"/>
                <a:ea typeface="Arial" pitchFamily="34" charset="-122"/>
                <a:cs typeface="Arial" pitchFamily="34" charset="-120"/>
              </a:rPr>
              <a:t>overall accuracy</a:t>
            </a:r>
            <a:r>
              <a:rPr lang="en-US" sz="3900" kern="0" spc="-58" dirty="0">
                <a:solidFill>
                  <a:srgbClr val="0E1116"/>
                </a:solidFill>
                <a:latin typeface="Arial" pitchFamily="34" charset="0"/>
                <a:ea typeface="Arial" pitchFamily="34" charset="-122"/>
                <a:cs typeface="Arial" pitchFamily="34" charset="-120"/>
              </a:rPr>
              <a:t>, but </a:t>
            </a:r>
            <a:r>
              <a:rPr lang="en-US" sz="3900" b="1" kern="0" spc="-58" dirty="0">
                <a:solidFill>
                  <a:srgbClr val="B0361C"/>
                </a:solidFill>
                <a:latin typeface="Arial" pitchFamily="34" charset="0"/>
                <a:ea typeface="Arial" pitchFamily="34" charset="-122"/>
                <a:cs typeface="Arial" pitchFamily="34" charset="-120"/>
              </a:rPr>
              <a:t>does not ensure fairness </a:t>
            </a:r>
            <a:r>
              <a:rPr lang="en-US" sz="3900" kern="0" spc="-58" dirty="0">
                <a:solidFill>
                  <a:srgbClr val="0E1116"/>
                </a:solidFill>
                <a:latin typeface="Arial" pitchFamily="34" charset="0"/>
                <a:ea typeface="Arial" pitchFamily="34" charset="-122"/>
                <a:cs typeface="Arial" pitchFamily="34" charset="-120"/>
              </a:rPr>
              <a:t>. A model can be accurate on average while systematically harming specific groups.</a:t>
            </a:r>
            <a:endParaRPr lang="en-US" sz="3900" dirty="0"/>
          </a:p>
        </p:txBody>
      </p:sp>
      <p:sp>
        <p:nvSpPr>
          <p:cNvPr id="10" name="Shape 8"/>
          <p:cNvSpPr/>
          <p:nvPr/>
        </p:nvSpPr>
        <p:spPr>
          <a:xfrm>
            <a:off x="952500" y="9343430"/>
            <a:ext cx="16383000" cy="9525"/>
          </a:xfrm>
          <a:prstGeom prst="rect">
            <a:avLst/>
          </a:prstGeom>
          <a:solidFill>
            <a:srgbClr val="C9C3B6"/>
          </a:solidFill>
          <a:ln/>
        </p:spPr>
        <p:txBody>
          <a:bodyPr/>
          <a:lstStyle/>
          <a:p>
            <a:endParaRPr lang="en-US"/>
          </a:p>
        </p:txBody>
      </p:sp>
      <p:sp>
        <p:nvSpPr>
          <p:cNvPr id="11" name="Text 9"/>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TRADE-OFF ANALYSIS</a:t>
            </a:r>
            <a:endParaRPr lang="en-US" sz="1800" dirty="0"/>
          </a:p>
        </p:txBody>
      </p:sp>
      <p:sp>
        <p:nvSpPr>
          <p:cNvPr id="6" name="Text 4"/>
          <p:cNvSpPr/>
          <p:nvPr/>
        </p:nvSpPr>
        <p:spPr>
          <a:xfrm>
            <a:off x="952500" y="1893491"/>
            <a:ext cx="16874490" cy="59809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kern="0" spc="-84" dirty="0">
                <a:solidFill>
                  <a:srgbClr val="0E1116"/>
                </a:solidFill>
                <a:latin typeface="Arial" pitchFamily="34" charset="0"/>
                <a:ea typeface="Arial" pitchFamily="34" charset="-122"/>
                <a:cs typeface="Arial" pitchFamily="34" charset="-120"/>
              </a:rPr>
              <a:t>Who pays the cost, and what the metrics show</a:t>
            </a:r>
            <a:endParaRPr lang="en-US" sz="4200" dirty="0"/>
          </a:p>
        </p:txBody>
      </p:sp>
      <p:sp>
        <p:nvSpPr>
          <p:cNvPr id="7" name="Shape 5"/>
          <p:cNvSpPr/>
          <p:nvPr/>
        </p:nvSpPr>
        <p:spPr>
          <a:xfrm>
            <a:off x="952500" y="3444677"/>
            <a:ext cx="16383000" cy="9525"/>
          </a:xfrm>
          <a:prstGeom prst="rect">
            <a:avLst/>
          </a:prstGeom>
          <a:solidFill>
            <a:srgbClr val="C9C3B6"/>
          </a:solidFill>
          <a:ln/>
        </p:spPr>
        <p:txBody>
          <a:bodyPr/>
          <a:lstStyle/>
          <a:p>
            <a:endParaRPr lang="en-US"/>
          </a:p>
        </p:txBody>
      </p:sp>
      <p:sp>
        <p:nvSpPr>
          <p:cNvPr id="8" name="Shape 6"/>
          <p:cNvSpPr/>
          <p:nvPr/>
        </p:nvSpPr>
        <p:spPr>
          <a:xfrm>
            <a:off x="952500" y="2796381"/>
            <a:ext cx="4587180" cy="654645"/>
          </a:xfrm>
          <a:prstGeom prst="rect">
            <a:avLst/>
          </a:prstGeom>
          <a:solidFill>
            <a:srgbClr val="0E1116"/>
          </a:solidFill>
          <a:ln/>
        </p:spPr>
        <p:txBody>
          <a:bodyPr/>
          <a:lstStyle/>
          <a:p>
            <a:endParaRPr lang="en-US"/>
          </a:p>
        </p:txBody>
      </p:sp>
      <p:sp>
        <p:nvSpPr>
          <p:cNvPr id="9" name="Text 7"/>
          <p:cNvSpPr/>
          <p:nvPr/>
        </p:nvSpPr>
        <p:spPr>
          <a:xfrm>
            <a:off x="1162050" y="2967831"/>
            <a:ext cx="4305696" cy="3498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kern="0" spc="288" dirty="0">
                <a:solidFill>
                  <a:srgbClr val="F6F4EE"/>
                </a:solidFill>
                <a:latin typeface="Arial" pitchFamily="34" charset="0"/>
                <a:ea typeface="Arial" pitchFamily="34" charset="-122"/>
                <a:cs typeface="Arial" pitchFamily="34" charset="-120"/>
              </a:rPr>
              <a:t>GROUP</a:t>
            </a:r>
            <a:endParaRPr lang="en-US" sz="1800" dirty="0"/>
          </a:p>
        </p:txBody>
      </p:sp>
      <p:sp>
        <p:nvSpPr>
          <p:cNvPr id="10" name="Shape 8"/>
          <p:cNvSpPr/>
          <p:nvPr/>
        </p:nvSpPr>
        <p:spPr>
          <a:xfrm>
            <a:off x="5539680" y="2796381"/>
            <a:ext cx="5242521" cy="654645"/>
          </a:xfrm>
          <a:prstGeom prst="rect">
            <a:avLst/>
          </a:prstGeom>
          <a:solidFill>
            <a:srgbClr val="0E1116"/>
          </a:solidFill>
          <a:ln/>
        </p:spPr>
        <p:txBody>
          <a:bodyPr/>
          <a:lstStyle/>
          <a:p>
            <a:endParaRPr lang="en-US"/>
          </a:p>
        </p:txBody>
      </p:sp>
      <p:sp>
        <p:nvSpPr>
          <p:cNvPr id="11" name="Text 9"/>
          <p:cNvSpPr/>
          <p:nvPr/>
        </p:nvSpPr>
        <p:spPr>
          <a:xfrm>
            <a:off x="5749230" y="2967831"/>
            <a:ext cx="4980696" cy="3498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kern="0" spc="288" dirty="0">
                <a:solidFill>
                  <a:srgbClr val="F6F4EE"/>
                </a:solidFill>
                <a:latin typeface="Arial" pitchFamily="34" charset="0"/>
                <a:ea typeface="Arial" pitchFamily="34" charset="-122"/>
                <a:cs typeface="Arial" pitchFamily="34" charset="-120"/>
              </a:rPr>
              <a:t>COST OF MODEL</a:t>
            </a:r>
            <a:endParaRPr lang="en-US" sz="1800" dirty="0"/>
          </a:p>
        </p:txBody>
      </p:sp>
      <p:sp>
        <p:nvSpPr>
          <p:cNvPr id="12" name="Shape 10"/>
          <p:cNvSpPr/>
          <p:nvPr/>
        </p:nvSpPr>
        <p:spPr>
          <a:xfrm>
            <a:off x="10782201" y="2796381"/>
            <a:ext cx="6553299" cy="654645"/>
          </a:xfrm>
          <a:prstGeom prst="rect">
            <a:avLst/>
          </a:prstGeom>
          <a:solidFill>
            <a:srgbClr val="0E1116"/>
          </a:solidFill>
          <a:ln/>
        </p:spPr>
        <p:txBody>
          <a:bodyPr/>
          <a:lstStyle/>
          <a:p>
            <a:endParaRPr lang="en-US"/>
          </a:p>
        </p:txBody>
      </p:sp>
      <p:sp>
        <p:nvSpPr>
          <p:cNvPr id="13" name="Text 11"/>
          <p:cNvSpPr/>
          <p:nvPr/>
        </p:nvSpPr>
        <p:spPr>
          <a:xfrm>
            <a:off x="10991751" y="2967831"/>
            <a:ext cx="6330798" cy="3498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kern="0" spc="288" dirty="0">
                <a:solidFill>
                  <a:srgbClr val="F6F4EE"/>
                </a:solidFill>
                <a:latin typeface="Arial" pitchFamily="34" charset="0"/>
                <a:ea typeface="Arial" pitchFamily="34" charset="-122"/>
                <a:cs typeface="Arial" pitchFamily="34" charset="-120"/>
              </a:rPr>
              <a:t>METRIC EVIDENCE</a:t>
            </a:r>
            <a:endParaRPr lang="en-US" sz="1800" dirty="0"/>
          </a:p>
        </p:txBody>
      </p:sp>
      <p:sp>
        <p:nvSpPr>
          <p:cNvPr id="14" name="Shape 12"/>
          <p:cNvSpPr/>
          <p:nvPr/>
        </p:nvSpPr>
        <p:spPr>
          <a:xfrm>
            <a:off x="952500" y="4567238"/>
            <a:ext cx="16383000" cy="9525"/>
          </a:xfrm>
          <a:prstGeom prst="rect">
            <a:avLst/>
          </a:prstGeom>
          <a:solidFill>
            <a:srgbClr val="C9C3B6"/>
          </a:solidFill>
          <a:ln/>
        </p:spPr>
        <p:txBody>
          <a:bodyPr/>
          <a:lstStyle/>
          <a:p>
            <a:endParaRPr lang="en-US"/>
          </a:p>
        </p:txBody>
      </p:sp>
      <p:sp>
        <p:nvSpPr>
          <p:cNvPr id="15" name="Shape 13"/>
          <p:cNvSpPr/>
          <p:nvPr/>
        </p:nvSpPr>
        <p:spPr>
          <a:xfrm>
            <a:off x="952500" y="4567238"/>
            <a:ext cx="4587180" cy="9525"/>
          </a:xfrm>
          <a:prstGeom prst="rect">
            <a:avLst/>
          </a:prstGeom>
          <a:solidFill>
            <a:srgbClr val="C9C3B6"/>
          </a:solidFill>
          <a:ln/>
        </p:spPr>
        <p:txBody>
          <a:bodyPr/>
          <a:lstStyle/>
          <a:p>
            <a:endParaRPr lang="en-US"/>
          </a:p>
        </p:txBody>
      </p:sp>
      <p:sp>
        <p:nvSpPr>
          <p:cNvPr id="16" name="Text 14"/>
          <p:cNvSpPr/>
          <p:nvPr/>
        </p:nvSpPr>
        <p:spPr>
          <a:xfrm>
            <a:off x="1162050" y="3682802"/>
            <a:ext cx="2251968" cy="317500"/>
          </a:xfrm>
          <a:prstGeom prst="rect">
            <a:avLst/>
          </a:prstGeom>
          <a:noFill/>
          <a:ln/>
        </p:spPr>
        <p:txBody>
          <a:bodyPr wrap="square" lIns="0" tIns="0" rIns="0" bIns="0" rtlCol="0" anchor="t">
            <a:normAutofit fontScale="92500" lnSpcReduction="10000"/>
          </a:bodyPr>
          <a:lstStyle/>
          <a:p>
            <a:pPr marL="0" indent="0" algn="l">
              <a:lnSpc>
                <a:spcPct val="140000"/>
              </a:lnSpc>
              <a:buNone/>
            </a:pPr>
            <a:r>
              <a:rPr lang="en-US" sz="1800" b="1" dirty="0">
                <a:solidFill>
                  <a:srgbClr val="0E1116"/>
                </a:solidFill>
                <a:latin typeface="Arial" pitchFamily="34" charset="0"/>
                <a:ea typeface="Arial" pitchFamily="34" charset="-122"/>
                <a:cs typeface="Arial" pitchFamily="34" charset="-120"/>
              </a:rPr>
              <a:t>Low-risk applicants</a:t>
            </a:r>
            <a:endParaRPr lang="en-US" sz="1800" dirty="0"/>
          </a:p>
        </p:txBody>
      </p:sp>
      <p:sp>
        <p:nvSpPr>
          <p:cNvPr id="17" name="Text 15"/>
          <p:cNvSpPr/>
          <p:nvPr/>
        </p:nvSpPr>
        <p:spPr>
          <a:xfrm>
            <a:off x="1162050" y="4040882"/>
            <a:ext cx="4293123"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C636E"/>
                </a:solidFill>
                <a:latin typeface="Arial" pitchFamily="34" charset="0"/>
                <a:ea typeface="Arial" pitchFamily="34" charset="-122"/>
                <a:cs typeface="Arial" pitchFamily="34" charset="-120"/>
              </a:rPr>
              <a:t>(entire population)</a:t>
            </a:r>
            <a:endParaRPr lang="en-US" sz="1800" dirty="0"/>
          </a:p>
        </p:txBody>
      </p:sp>
      <p:sp>
        <p:nvSpPr>
          <p:cNvPr id="18" name="Shape 16"/>
          <p:cNvSpPr/>
          <p:nvPr/>
        </p:nvSpPr>
        <p:spPr>
          <a:xfrm>
            <a:off x="5539680" y="4567238"/>
            <a:ext cx="5242521" cy="9525"/>
          </a:xfrm>
          <a:prstGeom prst="rect">
            <a:avLst/>
          </a:prstGeom>
          <a:solidFill>
            <a:srgbClr val="C9C3B6"/>
          </a:solidFill>
          <a:ln/>
        </p:spPr>
        <p:txBody>
          <a:bodyPr/>
          <a:lstStyle/>
          <a:p>
            <a:endParaRPr lang="en-US"/>
          </a:p>
        </p:txBody>
      </p:sp>
      <p:sp>
        <p:nvSpPr>
          <p:cNvPr id="19" name="Text 17"/>
          <p:cNvSpPr/>
          <p:nvPr/>
        </p:nvSpPr>
        <p:spPr>
          <a:xfrm>
            <a:off x="5749230" y="3660577"/>
            <a:ext cx="4980696" cy="735211"/>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1800" b="1" dirty="0">
                <a:solidFill>
                  <a:srgbClr val="B0361C"/>
                </a:solidFill>
                <a:latin typeface="Arial" pitchFamily="34" charset="0"/>
                <a:ea typeface="Arial" pitchFamily="34" charset="-122"/>
                <a:cs typeface="Arial" pitchFamily="34" charset="-120"/>
              </a:rPr>
              <a:t>Wrongful denials </a:t>
            </a:r>
            <a:r>
              <a:rPr lang="en-US" sz="1800" dirty="0">
                <a:solidFill>
                  <a:srgbClr val="2A2F36"/>
                </a:solidFill>
                <a:latin typeface="Arial" pitchFamily="34" charset="0"/>
                <a:ea typeface="Arial" pitchFamily="34" charset="-122"/>
                <a:cs typeface="Arial" pitchFamily="34" charset="-120"/>
              </a:rPr>
              <a:t>→ excluded from credit market</a:t>
            </a:r>
            <a:endParaRPr lang="en-US" sz="1800" dirty="0"/>
          </a:p>
        </p:txBody>
      </p:sp>
      <p:sp>
        <p:nvSpPr>
          <p:cNvPr id="20" name="Shape 18"/>
          <p:cNvSpPr/>
          <p:nvPr/>
        </p:nvSpPr>
        <p:spPr>
          <a:xfrm>
            <a:off x="10782201" y="4567238"/>
            <a:ext cx="6553299" cy="9525"/>
          </a:xfrm>
          <a:prstGeom prst="rect">
            <a:avLst/>
          </a:prstGeom>
          <a:solidFill>
            <a:srgbClr val="C9C3B6"/>
          </a:solidFill>
          <a:ln/>
        </p:spPr>
        <p:txBody>
          <a:bodyPr/>
          <a:lstStyle/>
          <a:p>
            <a:endParaRPr lang="en-US"/>
          </a:p>
        </p:txBody>
      </p:sp>
      <p:sp>
        <p:nvSpPr>
          <p:cNvPr id="21" name="Text 19"/>
          <p:cNvSpPr/>
          <p:nvPr/>
        </p:nvSpPr>
        <p:spPr>
          <a:xfrm>
            <a:off x="10991751" y="3660577"/>
            <a:ext cx="6330798" cy="735211"/>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129,152 wrongfully denied in low-risk tier; 42% false negative rate</a:t>
            </a:r>
            <a:endParaRPr lang="en-US" sz="1800" dirty="0"/>
          </a:p>
        </p:txBody>
      </p:sp>
      <p:sp>
        <p:nvSpPr>
          <p:cNvPr id="22" name="Shape 20"/>
          <p:cNvSpPr/>
          <p:nvPr/>
        </p:nvSpPr>
        <p:spPr>
          <a:xfrm>
            <a:off x="952500" y="6009779"/>
            <a:ext cx="16383000" cy="9525"/>
          </a:xfrm>
          <a:prstGeom prst="rect">
            <a:avLst/>
          </a:prstGeom>
          <a:solidFill>
            <a:srgbClr val="C9C3B6"/>
          </a:solidFill>
          <a:ln/>
        </p:spPr>
        <p:txBody>
          <a:bodyPr/>
          <a:lstStyle/>
          <a:p>
            <a:endParaRPr lang="en-US"/>
          </a:p>
        </p:txBody>
      </p:sp>
      <p:sp>
        <p:nvSpPr>
          <p:cNvPr id="23" name="Shape 21"/>
          <p:cNvSpPr/>
          <p:nvPr/>
        </p:nvSpPr>
        <p:spPr>
          <a:xfrm>
            <a:off x="952500" y="6009779"/>
            <a:ext cx="4587180" cy="9525"/>
          </a:xfrm>
          <a:prstGeom prst="rect">
            <a:avLst/>
          </a:prstGeom>
          <a:solidFill>
            <a:srgbClr val="C9C3B6"/>
          </a:solidFill>
          <a:ln/>
        </p:spPr>
        <p:txBody>
          <a:bodyPr/>
          <a:lstStyle/>
          <a:p>
            <a:endParaRPr lang="en-US"/>
          </a:p>
        </p:txBody>
      </p:sp>
      <p:sp>
        <p:nvSpPr>
          <p:cNvPr id="24" name="Text 22"/>
          <p:cNvSpPr/>
          <p:nvPr/>
        </p:nvSpPr>
        <p:spPr>
          <a:xfrm>
            <a:off x="1162050" y="4805363"/>
            <a:ext cx="1895177" cy="317500"/>
          </a:xfrm>
          <a:prstGeom prst="rect">
            <a:avLst/>
          </a:prstGeom>
          <a:noFill/>
          <a:ln/>
        </p:spPr>
        <p:txBody>
          <a:bodyPr wrap="square" lIns="0" tIns="0" rIns="0" bIns="0" rtlCol="0" anchor="t">
            <a:normAutofit fontScale="92500" lnSpcReduction="10000"/>
          </a:bodyPr>
          <a:lstStyle/>
          <a:p>
            <a:pPr marL="0" indent="0" algn="l">
              <a:lnSpc>
                <a:spcPct val="140000"/>
              </a:lnSpc>
              <a:buNone/>
            </a:pPr>
            <a:r>
              <a:rPr lang="en-US" sz="1800" b="1" dirty="0">
                <a:solidFill>
                  <a:srgbClr val="0E1116"/>
                </a:solidFill>
                <a:latin typeface="Arial" pitchFamily="34" charset="0"/>
                <a:ea typeface="Arial" pitchFamily="34" charset="-122"/>
                <a:cs typeface="Arial" pitchFamily="34" charset="-120"/>
              </a:rPr>
              <a:t>Racial minorities</a:t>
            </a:r>
            <a:endParaRPr lang="en-US" sz="1800" dirty="0"/>
          </a:p>
        </p:txBody>
      </p:sp>
      <p:sp>
        <p:nvSpPr>
          <p:cNvPr id="25" name="Text 23"/>
          <p:cNvSpPr/>
          <p:nvPr/>
        </p:nvSpPr>
        <p:spPr>
          <a:xfrm>
            <a:off x="1162050" y="5163443"/>
            <a:ext cx="4293123"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C636E"/>
                </a:solidFill>
                <a:latin typeface="Arial" pitchFamily="34" charset="0"/>
                <a:ea typeface="Arial" pitchFamily="34" charset="-122"/>
                <a:cs typeface="Arial" pitchFamily="34" charset="-120"/>
              </a:rPr>
              <a:t>(Black/African American, Native Hawaiian, "Free Form Text Only")</a:t>
            </a:r>
            <a:endParaRPr lang="en-US" sz="1800" dirty="0"/>
          </a:p>
        </p:txBody>
      </p:sp>
      <p:sp>
        <p:nvSpPr>
          <p:cNvPr id="26" name="Shape 24"/>
          <p:cNvSpPr/>
          <p:nvPr/>
        </p:nvSpPr>
        <p:spPr>
          <a:xfrm>
            <a:off x="5539680" y="6009779"/>
            <a:ext cx="5242521" cy="9525"/>
          </a:xfrm>
          <a:prstGeom prst="rect">
            <a:avLst/>
          </a:prstGeom>
          <a:solidFill>
            <a:srgbClr val="C9C3B6"/>
          </a:solidFill>
          <a:ln/>
        </p:spPr>
        <p:txBody>
          <a:bodyPr/>
          <a:lstStyle/>
          <a:p>
            <a:endParaRPr lang="en-US"/>
          </a:p>
        </p:txBody>
      </p:sp>
      <p:sp>
        <p:nvSpPr>
          <p:cNvPr id="27" name="Text 25"/>
          <p:cNvSpPr/>
          <p:nvPr/>
        </p:nvSpPr>
        <p:spPr>
          <a:xfrm>
            <a:off x="5749230" y="4783138"/>
            <a:ext cx="4980696" cy="105519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B0361C"/>
                </a:solidFill>
                <a:latin typeface="Arial" pitchFamily="34" charset="0"/>
                <a:ea typeface="Arial" pitchFamily="34" charset="-122"/>
                <a:cs typeface="Arial" pitchFamily="34" charset="-120"/>
              </a:rPr>
              <a:t>Disparate impact </a:t>
            </a:r>
            <a:r>
              <a:rPr lang="en-US" sz="1800" dirty="0">
                <a:solidFill>
                  <a:srgbClr val="2A2F36"/>
                </a:solidFill>
                <a:latin typeface="Arial" pitchFamily="34" charset="0"/>
                <a:ea typeface="Arial" pitchFamily="34" charset="-122"/>
                <a:cs typeface="Arial" pitchFamily="34" charset="-120"/>
              </a:rPr>
              <a:t>→ systemic exclusion by race</a:t>
            </a:r>
            <a:endParaRPr lang="en-US" sz="1800" dirty="0"/>
          </a:p>
        </p:txBody>
      </p:sp>
      <p:sp>
        <p:nvSpPr>
          <p:cNvPr id="28" name="Shape 26"/>
          <p:cNvSpPr/>
          <p:nvPr/>
        </p:nvSpPr>
        <p:spPr>
          <a:xfrm>
            <a:off x="10782201" y="6009779"/>
            <a:ext cx="6553299" cy="9525"/>
          </a:xfrm>
          <a:prstGeom prst="rect">
            <a:avLst/>
          </a:prstGeom>
          <a:solidFill>
            <a:srgbClr val="C9C3B6"/>
          </a:solidFill>
          <a:ln/>
        </p:spPr>
        <p:txBody>
          <a:bodyPr/>
          <a:lstStyle/>
          <a:p>
            <a:endParaRPr lang="en-US"/>
          </a:p>
        </p:txBody>
      </p:sp>
      <p:sp>
        <p:nvSpPr>
          <p:cNvPr id="29" name="Text 27"/>
          <p:cNvSpPr/>
          <p:nvPr/>
        </p:nvSpPr>
        <p:spPr>
          <a:xfrm>
            <a:off x="10991751" y="4783138"/>
            <a:ext cx="6330798" cy="105519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38.2% approval gap: Joint (80.3%) vs. Free Form Text Only (42.0%); Black (63.3%) vs. White (78.3%)</a:t>
            </a:r>
            <a:endParaRPr lang="en-US" sz="1800" dirty="0"/>
          </a:p>
        </p:txBody>
      </p:sp>
      <p:sp>
        <p:nvSpPr>
          <p:cNvPr id="30" name="Shape 28"/>
          <p:cNvSpPr/>
          <p:nvPr/>
        </p:nvSpPr>
        <p:spPr>
          <a:xfrm>
            <a:off x="952500" y="7081540"/>
            <a:ext cx="16383000" cy="9525"/>
          </a:xfrm>
          <a:prstGeom prst="rect">
            <a:avLst/>
          </a:prstGeom>
          <a:solidFill>
            <a:srgbClr val="C9C3B6"/>
          </a:solidFill>
          <a:ln/>
        </p:spPr>
        <p:txBody>
          <a:bodyPr/>
          <a:lstStyle/>
          <a:p>
            <a:endParaRPr lang="en-US"/>
          </a:p>
        </p:txBody>
      </p:sp>
      <p:sp>
        <p:nvSpPr>
          <p:cNvPr id="31" name="Shape 29"/>
          <p:cNvSpPr/>
          <p:nvPr/>
        </p:nvSpPr>
        <p:spPr>
          <a:xfrm>
            <a:off x="952500" y="7081540"/>
            <a:ext cx="4587180" cy="9525"/>
          </a:xfrm>
          <a:prstGeom prst="rect">
            <a:avLst/>
          </a:prstGeom>
          <a:solidFill>
            <a:srgbClr val="C9C3B6"/>
          </a:solidFill>
          <a:ln/>
        </p:spPr>
        <p:txBody>
          <a:bodyPr/>
          <a:lstStyle/>
          <a:p>
            <a:endParaRPr lang="en-US"/>
          </a:p>
        </p:txBody>
      </p:sp>
      <p:sp>
        <p:nvSpPr>
          <p:cNvPr id="32" name="Text 30"/>
          <p:cNvSpPr/>
          <p:nvPr/>
        </p:nvSpPr>
        <p:spPr>
          <a:xfrm>
            <a:off x="1162050" y="6225679"/>
            <a:ext cx="4305696" cy="68441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0E1116"/>
                </a:solidFill>
                <a:latin typeface="Arial" pitchFamily="34" charset="0"/>
                <a:ea typeface="Arial" pitchFamily="34" charset="-122"/>
                <a:cs typeface="Arial" pitchFamily="34" charset="-120"/>
              </a:rPr>
              <a:t>Female applicants</a:t>
            </a:r>
            <a:endParaRPr lang="en-US" sz="1800" dirty="0"/>
          </a:p>
        </p:txBody>
      </p:sp>
      <p:sp>
        <p:nvSpPr>
          <p:cNvPr id="33" name="Shape 31"/>
          <p:cNvSpPr/>
          <p:nvPr/>
        </p:nvSpPr>
        <p:spPr>
          <a:xfrm>
            <a:off x="5539680" y="7081540"/>
            <a:ext cx="5242521" cy="9525"/>
          </a:xfrm>
          <a:prstGeom prst="rect">
            <a:avLst/>
          </a:prstGeom>
          <a:solidFill>
            <a:srgbClr val="C9C3B6"/>
          </a:solidFill>
          <a:ln/>
        </p:spPr>
        <p:txBody>
          <a:bodyPr/>
          <a:lstStyle/>
          <a:p>
            <a:endParaRPr lang="en-US"/>
          </a:p>
        </p:txBody>
      </p:sp>
      <p:sp>
        <p:nvSpPr>
          <p:cNvPr id="34" name="Text 32"/>
          <p:cNvSpPr/>
          <p:nvPr/>
        </p:nvSpPr>
        <p:spPr>
          <a:xfrm>
            <a:off x="5749230" y="6225679"/>
            <a:ext cx="4980696" cy="68441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B0361C"/>
                </a:solidFill>
                <a:latin typeface="Arial" pitchFamily="34" charset="0"/>
                <a:ea typeface="Arial" pitchFamily="34" charset="-122"/>
                <a:cs typeface="Arial" pitchFamily="34" charset="-120"/>
              </a:rPr>
              <a:t>Gender-based exclusion </a:t>
            </a:r>
            <a:r>
              <a:rPr lang="en-US" sz="1800" dirty="0">
                <a:solidFill>
                  <a:srgbClr val="2A2F36"/>
                </a:solidFill>
                <a:latin typeface="Arial" pitchFamily="34" charset="0"/>
                <a:ea typeface="Arial" pitchFamily="34" charset="-122"/>
                <a:cs typeface="Arial" pitchFamily="34" charset="-120"/>
              </a:rPr>
              <a:t>→ compounding disadvantage</a:t>
            </a:r>
            <a:endParaRPr lang="en-US" sz="1800" dirty="0"/>
          </a:p>
        </p:txBody>
      </p:sp>
      <p:sp>
        <p:nvSpPr>
          <p:cNvPr id="35" name="Shape 33"/>
          <p:cNvSpPr/>
          <p:nvPr/>
        </p:nvSpPr>
        <p:spPr>
          <a:xfrm>
            <a:off x="10782201" y="7081540"/>
            <a:ext cx="6553299" cy="9525"/>
          </a:xfrm>
          <a:prstGeom prst="rect">
            <a:avLst/>
          </a:prstGeom>
          <a:solidFill>
            <a:srgbClr val="C9C3B6"/>
          </a:solidFill>
          <a:ln/>
        </p:spPr>
        <p:txBody>
          <a:bodyPr/>
          <a:lstStyle/>
          <a:p>
            <a:endParaRPr lang="en-US"/>
          </a:p>
        </p:txBody>
      </p:sp>
      <p:sp>
        <p:nvSpPr>
          <p:cNvPr id="36" name="Text 34"/>
          <p:cNvSpPr/>
          <p:nvPr/>
        </p:nvSpPr>
        <p:spPr>
          <a:xfrm>
            <a:off x="10991751" y="6225679"/>
            <a:ext cx="6330798" cy="68441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11.2% lower approval rate (Women 70.6% vs. Men 74.3%); 33% false negative rate</a:t>
            </a:r>
            <a:endParaRPr lang="en-US" sz="1800" dirty="0"/>
          </a:p>
        </p:txBody>
      </p:sp>
      <p:sp>
        <p:nvSpPr>
          <p:cNvPr id="37" name="Shape 35"/>
          <p:cNvSpPr/>
          <p:nvPr/>
        </p:nvSpPr>
        <p:spPr>
          <a:xfrm>
            <a:off x="952500" y="8146951"/>
            <a:ext cx="16383000" cy="9525"/>
          </a:xfrm>
          <a:prstGeom prst="rect">
            <a:avLst/>
          </a:prstGeom>
          <a:solidFill>
            <a:srgbClr val="C9C3B6"/>
          </a:solidFill>
          <a:ln/>
        </p:spPr>
        <p:txBody>
          <a:bodyPr/>
          <a:lstStyle/>
          <a:p>
            <a:endParaRPr lang="en-US"/>
          </a:p>
        </p:txBody>
      </p:sp>
      <p:sp>
        <p:nvSpPr>
          <p:cNvPr id="38" name="Text 36"/>
          <p:cNvSpPr/>
          <p:nvPr/>
        </p:nvSpPr>
        <p:spPr>
          <a:xfrm>
            <a:off x="1162050" y="7297440"/>
            <a:ext cx="4305696" cy="68441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0E1116"/>
                </a:solidFill>
                <a:latin typeface="Arial" pitchFamily="34" charset="0"/>
                <a:ea typeface="Arial" pitchFamily="34" charset="-122"/>
                <a:cs typeface="Arial" pitchFamily="34" charset="-120"/>
              </a:rPr>
              <a:t>Lenders</a:t>
            </a:r>
            <a:endParaRPr lang="en-US" sz="1800" dirty="0"/>
          </a:p>
        </p:txBody>
      </p:sp>
      <p:sp>
        <p:nvSpPr>
          <p:cNvPr id="39" name="Text 37"/>
          <p:cNvSpPr/>
          <p:nvPr/>
        </p:nvSpPr>
        <p:spPr>
          <a:xfrm>
            <a:off x="5749230" y="7297440"/>
            <a:ext cx="4980696" cy="68441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B98A2A"/>
                </a:solidFill>
                <a:latin typeface="Arial" pitchFamily="34" charset="0"/>
                <a:ea typeface="Arial" pitchFamily="34" charset="-122"/>
                <a:cs typeface="Arial" pitchFamily="34" charset="-120"/>
              </a:rPr>
              <a:t>Credit risk </a:t>
            </a:r>
            <a:r>
              <a:rPr lang="en-US" sz="1800" dirty="0">
                <a:solidFill>
                  <a:srgbClr val="2A2F36"/>
                </a:solidFill>
                <a:latin typeface="Arial" pitchFamily="34" charset="0"/>
                <a:ea typeface="Arial" pitchFamily="34" charset="-122"/>
                <a:cs typeface="Arial" pitchFamily="34" charset="-120"/>
              </a:rPr>
              <a:t>from false positives</a:t>
            </a:r>
            <a:endParaRPr lang="en-US" sz="1800" dirty="0"/>
          </a:p>
        </p:txBody>
      </p:sp>
      <p:sp>
        <p:nvSpPr>
          <p:cNvPr id="40" name="Text 38"/>
          <p:cNvSpPr/>
          <p:nvPr/>
        </p:nvSpPr>
        <p:spPr>
          <a:xfrm>
            <a:off x="10991751" y="7297440"/>
            <a:ext cx="6330798" cy="68441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~30K wrongfully approved in high-risk tier; potential loan losses</a:t>
            </a:r>
            <a:endParaRPr lang="en-US" sz="1800" dirty="0"/>
          </a:p>
        </p:txBody>
      </p:sp>
      <p:sp>
        <p:nvSpPr>
          <p:cNvPr id="41" name="Shape 39"/>
          <p:cNvSpPr/>
          <p:nvPr/>
        </p:nvSpPr>
        <p:spPr>
          <a:xfrm>
            <a:off x="952500" y="9343430"/>
            <a:ext cx="16383000" cy="9525"/>
          </a:xfrm>
          <a:prstGeom prst="rect">
            <a:avLst/>
          </a:prstGeom>
          <a:solidFill>
            <a:srgbClr val="C9C3B6"/>
          </a:solidFill>
          <a:ln/>
        </p:spPr>
        <p:txBody>
          <a:bodyPr/>
          <a:lstStyle/>
          <a:p>
            <a:endParaRPr lang="en-US"/>
          </a:p>
        </p:txBody>
      </p:sp>
      <p:sp>
        <p:nvSpPr>
          <p:cNvPr id="42" name="Text 40"/>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AUDIENCE &amp; FRAMING</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Who is affected, and what counts as failure</a:t>
            </a:r>
            <a:endParaRPr lang="en-US" sz="4800" dirty="0"/>
          </a:p>
        </p:txBody>
      </p:sp>
      <p:sp>
        <p:nvSpPr>
          <p:cNvPr id="7" name="Text 5"/>
          <p:cNvSpPr/>
          <p:nvPr/>
        </p:nvSpPr>
        <p:spPr>
          <a:xfrm>
            <a:off x="952500" y="2800251"/>
            <a:ext cx="14716125" cy="323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kern="0" spc="252" dirty="0">
                <a:solidFill>
                  <a:srgbClr val="5C636E"/>
                </a:solidFill>
                <a:latin typeface="Arial" pitchFamily="34" charset="0"/>
                <a:ea typeface="Arial" pitchFamily="34" charset="-122"/>
                <a:cs typeface="Arial" pitchFamily="34" charset="-120"/>
              </a:rPr>
              <a:t>STAKEHOLDERS &amp; HARM ASYMMETRY</a:t>
            </a:r>
            <a:endParaRPr lang="en-US" sz="1800" dirty="0"/>
          </a:p>
        </p:txBody>
      </p:sp>
      <p:sp>
        <p:nvSpPr>
          <p:cNvPr id="8" name="Shape 6"/>
          <p:cNvSpPr/>
          <p:nvPr/>
        </p:nvSpPr>
        <p:spPr>
          <a:xfrm>
            <a:off x="952500" y="3505101"/>
            <a:ext cx="3895725" cy="9525"/>
          </a:xfrm>
          <a:prstGeom prst="rect">
            <a:avLst/>
          </a:prstGeom>
          <a:solidFill>
            <a:srgbClr val="C9C3B6"/>
          </a:solidFill>
          <a:ln/>
        </p:spPr>
        <p:txBody>
          <a:bodyPr/>
          <a:lstStyle/>
          <a:p>
            <a:endParaRPr lang="en-US"/>
          </a:p>
        </p:txBody>
      </p:sp>
      <p:sp>
        <p:nvSpPr>
          <p:cNvPr id="9" name="Text 7"/>
          <p:cNvSpPr/>
          <p:nvPr/>
        </p:nvSpPr>
        <p:spPr>
          <a:xfrm>
            <a:off x="952500" y="3721001"/>
            <a:ext cx="4012597" cy="44956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0E1116"/>
                </a:solidFill>
                <a:latin typeface="Arial" pitchFamily="34" charset="0"/>
                <a:ea typeface="Arial" pitchFamily="34" charset="-122"/>
                <a:cs typeface="Arial" pitchFamily="34" charset="-120"/>
              </a:rPr>
              <a:t>Applicants</a:t>
            </a:r>
            <a:endParaRPr lang="en-US" sz="2400" dirty="0"/>
          </a:p>
        </p:txBody>
      </p:sp>
      <p:sp>
        <p:nvSpPr>
          <p:cNvPr id="10" name="Text 8"/>
          <p:cNvSpPr/>
          <p:nvPr/>
        </p:nvSpPr>
        <p:spPr>
          <a:xfrm>
            <a:off x="952500" y="4265811"/>
            <a:ext cx="4012597" cy="1318022"/>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Bear the dominant harm. Protected-class applicants disproportionately so. </a:t>
            </a:r>
          </a:p>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A wrongful denial blocks credit for a qualified borrower.</a:t>
            </a:r>
            <a:endParaRPr lang="en-US" sz="2000" dirty="0"/>
          </a:p>
        </p:txBody>
      </p:sp>
      <p:sp>
        <p:nvSpPr>
          <p:cNvPr id="11" name="Shape 9"/>
          <p:cNvSpPr/>
          <p:nvPr/>
        </p:nvSpPr>
        <p:spPr>
          <a:xfrm>
            <a:off x="5114925" y="3505101"/>
            <a:ext cx="3895725" cy="9525"/>
          </a:xfrm>
          <a:prstGeom prst="rect">
            <a:avLst/>
          </a:prstGeom>
          <a:solidFill>
            <a:srgbClr val="C9C3B6"/>
          </a:solidFill>
          <a:ln/>
        </p:spPr>
        <p:txBody>
          <a:bodyPr/>
          <a:lstStyle/>
          <a:p>
            <a:endParaRPr lang="en-US"/>
          </a:p>
        </p:txBody>
      </p:sp>
      <p:sp>
        <p:nvSpPr>
          <p:cNvPr id="12" name="Text 10"/>
          <p:cNvSpPr/>
          <p:nvPr/>
        </p:nvSpPr>
        <p:spPr>
          <a:xfrm>
            <a:off x="5114925" y="3721001"/>
            <a:ext cx="4012597" cy="44956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0E1116"/>
                </a:solidFill>
                <a:latin typeface="Arial" pitchFamily="34" charset="0"/>
                <a:ea typeface="Arial" pitchFamily="34" charset="-122"/>
                <a:cs typeface="Arial" pitchFamily="34" charset="-120"/>
              </a:rPr>
              <a:t>Lender</a:t>
            </a:r>
            <a:endParaRPr lang="en-US" sz="2400" dirty="0"/>
          </a:p>
        </p:txBody>
      </p:sp>
      <p:sp>
        <p:nvSpPr>
          <p:cNvPr id="13" name="Text 11"/>
          <p:cNvSpPr/>
          <p:nvPr/>
        </p:nvSpPr>
        <p:spPr>
          <a:xfrm>
            <a:off x="5114925" y="4265811"/>
            <a:ext cx="4012597" cy="1318022"/>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Carries institutional risk: bad loans approved, regulatory exposure, reputational damage from disparate-impact findings.</a:t>
            </a:r>
            <a:endParaRPr lang="en-US" sz="2000" dirty="0"/>
          </a:p>
        </p:txBody>
      </p:sp>
      <p:sp>
        <p:nvSpPr>
          <p:cNvPr id="14" name="Shape 12"/>
          <p:cNvSpPr/>
          <p:nvPr/>
        </p:nvSpPr>
        <p:spPr>
          <a:xfrm>
            <a:off x="9277350" y="3505101"/>
            <a:ext cx="3895725" cy="9525"/>
          </a:xfrm>
          <a:prstGeom prst="rect">
            <a:avLst/>
          </a:prstGeom>
          <a:solidFill>
            <a:srgbClr val="C9C3B6"/>
          </a:solidFill>
          <a:ln/>
        </p:spPr>
        <p:txBody>
          <a:bodyPr/>
          <a:lstStyle/>
          <a:p>
            <a:endParaRPr lang="en-US"/>
          </a:p>
        </p:txBody>
      </p:sp>
      <p:sp>
        <p:nvSpPr>
          <p:cNvPr id="15" name="Text 13"/>
          <p:cNvSpPr/>
          <p:nvPr/>
        </p:nvSpPr>
        <p:spPr>
          <a:xfrm>
            <a:off x="9277350" y="3721001"/>
            <a:ext cx="4012597" cy="44956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0E1116"/>
                </a:solidFill>
                <a:latin typeface="Arial" pitchFamily="34" charset="0"/>
                <a:ea typeface="Arial" pitchFamily="34" charset="-122"/>
                <a:cs typeface="Arial" pitchFamily="34" charset="-120"/>
              </a:rPr>
              <a:t>Regulators</a:t>
            </a:r>
            <a:endParaRPr lang="en-US" sz="2400" dirty="0"/>
          </a:p>
        </p:txBody>
      </p:sp>
      <p:sp>
        <p:nvSpPr>
          <p:cNvPr id="16" name="Text 14"/>
          <p:cNvSpPr/>
          <p:nvPr/>
        </p:nvSpPr>
        <p:spPr>
          <a:xfrm>
            <a:off x="9277350" y="4265811"/>
            <a:ext cx="4012597" cy="99804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CFPB, HUD, OCC examine the lender. Fair-lending exam cycles focus on FNR by protected class.</a:t>
            </a:r>
            <a:endParaRPr lang="en-US" sz="2000" dirty="0"/>
          </a:p>
        </p:txBody>
      </p:sp>
      <p:sp>
        <p:nvSpPr>
          <p:cNvPr id="17" name="Shape 15"/>
          <p:cNvSpPr/>
          <p:nvPr/>
        </p:nvSpPr>
        <p:spPr>
          <a:xfrm>
            <a:off x="13439775" y="3505101"/>
            <a:ext cx="3895725" cy="9525"/>
          </a:xfrm>
          <a:prstGeom prst="rect">
            <a:avLst/>
          </a:prstGeom>
          <a:solidFill>
            <a:srgbClr val="C9C3B6"/>
          </a:solidFill>
          <a:ln/>
        </p:spPr>
        <p:txBody>
          <a:bodyPr/>
          <a:lstStyle/>
          <a:p>
            <a:endParaRPr lang="en-US"/>
          </a:p>
        </p:txBody>
      </p:sp>
      <p:sp>
        <p:nvSpPr>
          <p:cNvPr id="18" name="Text 16"/>
          <p:cNvSpPr/>
          <p:nvPr/>
        </p:nvSpPr>
        <p:spPr>
          <a:xfrm>
            <a:off x="13439775" y="3721001"/>
            <a:ext cx="4012597" cy="44956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0E1116"/>
                </a:solidFill>
                <a:latin typeface="Arial" pitchFamily="34" charset="0"/>
                <a:ea typeface="Arial" pitchFamily="34" charset="-122"/>
                <a:cs typeface="Arial" pitchFamily="34" charset="-120"/>
              </a:rPr>
              <a:t>Brokers / vendors</a:t>
            </a:r>
            <a:endParaRPr lang="en-US" sz="2400" dirty="0"/>
          </a:p>
        </p:txBody>
      </p:sp>
      <p:sp>
        <p:nvSpPr>
          <p:cNvPr id="19" name="Text 17"/>
          <p:cNvSpPr/>
          <p:nvPr/>
        </p:nvSpPr>
        <p:spPr>
          <a:xfrm>
            <a:off x="13439775" y="4265811"/>
            <a:ext cx="4012597" cy="99804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Influence input integrity. Income/DTI gaming and census-data corruption are documented threat vectors.</a:t>
            </a:r>
            <a:endParaRPr lang="en-US" sz="2000" dirty="0"/>
          </a:p>
        </p:txBody>
      </p:sp>
      <p:sp>
        <p:nvSpPr>
          <p:cNvPr id="20" name="Shape 18"/>
          <p:cNvSpPr/>
          <p:nvPr/>
        </p:nvSpPr>
        <p:spPr>
          <a:xfrm>
            <a:off x="952500" y="7154664"/>
            <a:ext cx="16383000" cy="1179711"/>
          </a:xfrm>
          <a:prstGeom prst="rect">
            <a:avLst/>
          </a:prstGeom>
          <a:solidFill>
            <a:srgbClr val="0E1116"/>
          </a:solidFill>
          <a:ln/>
        </p:spPr>
        <p:txBody>
          <a:bodyPr/>
          <a:lstStyle/>
          <a:p>
            <a:endParaRPr lang="en-US" sz="2400"/>
          </a:p>
        </p:txBody>
      </p:sp>
      <p:sp>
        <p:nvSpPr>
          <p:cNvPr id="21" name="Shape 19"/>
          <p:cNvSpPr/>
          <p:nvPr/>
        </p:nvSpPr>
        <p:spPr>
          <a:xfrm>
            <a:off x="3109119" y="7590234"/>
            <a:ext cx="9525" cy="308570"/>
          </a:xfrm>
          <a:prstGeom prst="rect">
            <a:avLst/>
          </a:prstGeom>
          <a:solidFill>
            <a:srgbClr val="F6F4EE">
              <a:alpha val="25000"/>
            </a:srgbClr>
          </a:solidFill>
          <a:ln/>
        </p:spPr>
        <p:txBody>
          <a:bodyPr/>
          <a:lstStyle/>
          <a:p>
            <a:endParaRPr lang="en-US" sz="2400"/>
          </a:p>
        </p:txBody>
      </p:sp>
      <p:sp>
        <p:nvSpPr>
          <p:cNvPr id="22" name="Text 20"/>
          <p:cNvSpPr/>
          <p:nvPr/>
        </p:nvSpPr>
        <p:spPr>
          <a:xfrm>
            <a:off x="1188245" y="7571184"/>
            <a:ext cx="2062162" cy="346670"/>
          </a:xfrm>
          <a:prstGeom prst="rect">
            <a:avLst/>
          </a:prstGeom>
          <a:noFill/>
          <a:ln/>
        </p:spPr>
        <p:txBody>
          <a:bodyPr wrap="square" lIns="25400" tIns="25400" rIns="25400" bIns="25400" rtlCol="0" anchor="t">
            <a:noAutofit/>
          </a:bodyPr>
          <a:lstStyle/>
          <a:p>
            <a:pPr marL="0" indent="0" algn="l">
              <a:lnSpc>
                <a:spcPct val="135000"/>
              </a:lnSpc>
              <a:buNone/>
            </a:pPr>
            <a:r>
              <a:rPr lang="en-US" sz="2000" kern="0" spc="360" dirty="0">
                <a:solidFill>
                  <a:srgbClr val="E8C9C0"/>
                </a:solidFill>
                <a:latin typeface="Arial" pitchFamily="34" charset="0"/>
                <a:ea typeface="Arial" pitchFamily="34" charset="-122"/>
                <a:cs typeface="Arial" pitchFamily="34" charset="-120"/>
              </a:rPr>
              <a:t>TAKEAWAY</a:t>
            </a:r>
            <a:endParaRPr lang="en-US" sz="2000" dirty="0"/>
          </a:p>
        </p:txBody>
      </p:sp>
      <p:sp>
        <p:nvSpPr>
          <p:cNvPr id="23" name="Text 21"/>
          <p:cNvSpPr/>
          <p:nvPr/>
        </p:nvSpPr>
        <p:spPr>
          <a:xfrm>
            <a:off x="3382169" y="7278489"/>
            <a:ext cx="13381831" cy="93206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F6F4EE"/>
                </a:solidFill>
                <a:latin typeface="Arial" pitchFamily="34" charset="0"/>
                <a:ea typeface="Arial" pitchFamily="34" charset="-122"/>
                <a:cs typeface="Arial" pitchFamily="34" charset="-120"/>
              </a:rPr>
              <a:t>A </a:t>
            </a:r>
            <a:r>
              <a:rPr lang="en-US" sz="2000" b="1" dirty="0">
                <a:solidFill>
                  <a:srgbClr val="F6F4EE"/>
                </a:solidFill>
                <a:latin typeface="Arial" pitchFamily="34" charset="0"/>
                <a:ea typeface="Arial" pitchFamily="34" charset="-122"/>
                <a:cs typeface="Arial" pitchFamily="34" charset="-120"/>
              </a:rPr>
              <a:t>false negative </a:t>
            </a:r>
            <a:r>
              <a:rPr lang="en-US" sz="2000" dirty="0">
                <a:solidFill>
                  <a:srgbClr val="F6F4EE"/>
                </a:solidFill>
                <a:latin typeface="Arial" pitchFamily="34" charset="0"/>
                <a:ea typeface="Arial" pitchFamily="34" charset="-122"/>
                <a:cs typeface="Arial" pitchFamily="34" charset="-120"/>
              </a:rPr>
              <a:t>— denying a qualified applicant — is the worst outcome and the metric fair-lending exam cycles focus on. We lead the audit with that harm metric.</a:t>
            </a:r>
            <a:endParaRPr lang="en-US" sz="2000" dirty="0"/>
          </a:p>
        </p:txBody>
      </p:sp>
      <p:sp>
        <p:nvSpPr>
          <p:cNvPr id="24" name="Shape 22"/>
          <p:cNvSpPr/>
          <p:nvPr/>
        </p:nvSpPr>
        <p:spPr>
          <a:xfrm>
            <a:off x="952500" y="9343430"/>
            <a:ext cx="16383000" cy="9525"/>
          </a:xfrm>
          <a:prstGeom prst="rect">
            <a:avLst/>
          </a:prstGeom>
          <a:solidFill>
            <a:srgbClr val="C9C3B6"/>
          </a:solidFill>
          <a:ln/>
        </p:spPr>
        <p:txBody>
          <a:bodyPr/>
          <a:lstStyle/>
          <a:p>
            <a:endParaRPr lang="en-US"/>
          </a:p>
        </p:txBody>
      </p:sp>
      <p:sp>
        <p:nvSpPr>
          <p:cNvPr id="25" name="Text 23"/>
          <p:cNvSpPr/>
          <p:nvPr/>
        </p:nvSpPr>
        <p:spPr>
          <a:xfrm>
            <a:off x="952500" y="9559330"/>
            <a:ext cx="4130019"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GROUP 5 · DNSC 6330 · GWU</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MODEL OVERVIEW</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How the prediction system is audited</a:t>
            </a:r>
            <a:endParaRPr lang="en-US" sz="4800" dirty="0"/>
          </a:p>
        </p:txBody>
      </p:sp>
      <p:grpSp>
        <p:nvGrpSpPr>
          <p:cNvPr id="32" name="Group 31">
            <a:extLst>
              <a:ext uri="{FF2B5EF4-FFF2-40B4-BE49-F238E27FC236}">
                <a16:creationId xmlns:a16="http://schemas.microsoft.com/office/drawing/2014/main" id="{AD795DBB-C33B-94DC-D2C7-980ACF04022A}"/>
              </a:ext>
            </a:extLst>
          </p:cNvPr>
          <p:cNvGrpSpPr/>
          <p:nvPr/>
        </p:nvGrpSpPr>
        <p:grpSpPr>
          <a:xfrm>
            <a:off x="438150" y="3363305"/>
            <a:ext cx="17411700" cy="3560391"/>
            <a:chOff x="952500" y="4537472"/>
            <a:chExt cx="16383000" cy="2217241"/>
          </a:xfrm>
        </p:grpSpPr>
        <p:sp>
          <p:nvSpPr>
            <p:cNvPr id="8" name="Shape 6"/>
            <p:cNvSpPr/>
            <p:nvPr/>
          </p:nvSpPr>
          <p:spPr>
            <a:xfrm>
              <a:off x="952500" y="4537472"/>
              <a:ext cx="16383000" cy="19050"/>
            </a:xfrm>
            <a:prstGeom prst="rect">
              <a:avLst/>
            </a:prstGeom>
            <a:solidFill>
              <a:srgbClr val="0E1116"/>
            </a:solidFill>
            <a:ln/>
          </p:spPr>
          <p:txBody>
            <a:bodyPr/>
            <a:lstStyle/>
            <a:p>
              <a:endParaRPr lang="en-US" sz="2400"/>
            </a:p>
          </p:txBody>
        </p:sp>
        <p:grpSp>
          <p:nvGrpSpPr>
            <p:cNvPr id="31" name="Group 30">
              <a:extLst>
                <a:ext uri="{FF2B5EF4-FFF2-40B4-BE49-F238E27FC236}">
                  <a16:creationId xmlns:a16="http://schemas.microsoft.com/office/drawing/2014/main" id="{0A8C3EB8-22D4-517C-B2F0-B56F7B1A2016}"/>
                </a:ext>
              </a:extLst>
            </p:cNvPr>
            <p:cNvGrpSpPr/>
            <p:nvPr/>
          </p:nvGrpSpPr>
          <p:grpSpPr>
            <a:xfrm>
              <a:off x="952500" y="4556522"/>
              <a:ext cx="16383000" cy="2198191"/>
              <a:chOff x="952500" y="4556522"/>
              <a:chExt cx="16383000" cy="2198191"/>
            </a:xfrm>
          </p:grpSpPr>
          <p:sp>
            <p:nvSpPr>
              <p:cNvPr id="7" name="Shape 5"/>
              <p:cNvSpPr/>
              <p:nvPr/>
            </p:nvSpPr>
            <p:spPr>
              <a:xfrm>
                <a:off x="952500" y="6735663"/>
                <a:ext cx="16383000" cy="19050"/>
              </a:xfrm>
              <a:prstGeom prst="rect">
                <a:avLst/>
              </a:prstGeom>
              <a:solidFill>
                <a:srgbClr val="0E1116"/>
              </a:solidFill>
              <a:ln/>
            </p:spPr>
            <p:txBody>
              <a:bodyPr/>
              <a:lstStyle/>
              <a:p>
                <a:endParaRPr lang="en-US" sz="2400"/>
              </a:p>
            </p:txBody>
          </p:sp>
          <p:sp>
            <p:nvSpPr>
              <p:cNvPr id="9" name="Shape 7"/>
              <p:cNvSpPr/>
              <p:nvPr/>
            </p:nvSpPr>
            <p:spPr>
              <a:xfrm>
                <a:off x="4222750" y="4556522"/>
                <a:ext cx="9525" cy="2179141"/>
              </a:xfrm>
              <a:prstGeom prst="rect">
                <a:avLst/>
              </a:prstGeom>
              <a:solidFill>
                <a:srgbClr val="C9C3B6"/>
              </a:solidFill>
              <a:ln/>
            </p:spPr>
            <p:txBody>
              <a:bodyPr/>
              <a:lstStyle/>
              <a:p>
                <a:endParaRPr lang="en-US" sz="2400"/>
              </a:p>
            </p:txBody>
          </p:sp>
          <p:sp>
            <p:nvSpPr>
              <p:cNvPr id="10" name="Text 8"/>
              <p:cNvSpPr/>
              <p:nvPr/>
            </p:nvSpPr>
            <p:spPr>
              <a:xfrm>
                <a:off x="1219200" y="4899422"/>
                <a:ext cx="2818956" cy="346670"/>
              </a:xfrm>
              <a:prstGeom prst="rect">
                <a:avLst/>
              </a:prstGeom>
              <a:noFill/>
              <a:ln/>
            </p:spPr>
            <p:txBody>
              <a:bodyPr wrap="square" lIns="25400" tIns="25400" rIns="25400" bIns="25400" rtlCol="0" anchor="t">
                <a:noAutofit/>
              </a:bodyPr>
              <a:lstStyle/>
              <a:p>
                <a:pPr marL="0" indent="0" algn="l">
                  <a:lnSpc>
                    <a:spcPct val="135000"/>
                  </a:lnSpc>
                  <a:buNone/>
                </a:pPr>
                <a:r>
                  <a:rPr lang="en-US" sz="2000" kern="0" spc="324" dirty="0">
                    <a:solidFill>
                      <a:srgbClr val="5C636E"/>
                    </a:solidFill>
                    <a:latin typeface="Arial" pitchFamily="34" charset="0"/>
                    <a:ea typeface="Arial" pitchFamily="34" charset="-122"/>
                    <a:cs typeface="Arial" pitchFamily="34" charset="-120"/>
                  </a:rPr>
                  <a:t>INPUT</a:t>
                </a:r>
                <a:endParaRPr lang="en-US" sz="2000" dirty="0"/>
              </a:p>
            </p:txBody>
          </p:sp>
          <p:sp>
            <p:nvSpPr>
              <p:cNvPr id="11" name="Text 9"/>
              <p:cNvSpPr/>
              <p:nvPr/>
            </p:nvSpPr>
            <p:spPr>
              <a:xfrm>
                <a:off x="1219200" y="5360392"/>
                <a:ext cx="2818956" cy="358080"/>
              </a:xfrm>
              <a:prstGeom prst="rect">
                <a:avLst/>
              </a:prstGeom>
              <a:noFill/>
              <a:ln/>
            </p:spPr>
            <p:txBody>
              <a:bodyPr wrap="square" lIns="25400" tIns="25400" rIns="25400" bIns="25400" rtlCol="0" anchor="t">
                <a:noAutofit/>
              </a:bodyPr>
              <a:lstStyle/>
              <a:p>
                <a:pPr marL="0" indent="0" algn="l">
                  <a:lnSpc>
                    <a:spcPct val="120000"/>
                  </a:lnSpc>
                  <a:buNone/>
                </a:pPr>
                <a:r>
                  <a:rPr lang="en-US" sz="2400" b="1" dirty="0">
                    <a:solidFill>
                      <a:srgbClr val="0E1116"/>
                    </a:solidFill>
                    <a:latin typeface="Arial" pitchFamily="34" charset="0"/>
                    <a:ea typeface="Arial" pitchFamily="34" charset="-122"/>
                    <a:cs typeface="Arial" pitchFamily="34" charset="-120"/>
                  </a:rPr>
                  <a:t>HMDA applications</a:t>
                </a:r>
                <a:endParaRPr lang="en-US" sz="2400" dirty="0"/>
              </a:p>
            </p:txBody>
          </p:sp>
          <p:sp>
            <p:nvSpPr>
              <p:cNvPr id="12" name="Text 10"/>
              <p:cNvSpPr/>
              <p:nvPr/>
            </p:nvSpPr>
            <p:spPr>
              <a:xfrm>
                <a:off x="1219200" y="5775623"/>
                <a:ext cx="2818956" cy="655241"/>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A2F36"/>
                    </a:solidFill>
                    <a:latin typeface="Arial" pitchFamily="34" charset="0"/>
                    <a:ea typeface="Arial" pitchFamily="34" charset="-122"/>
                    <a:cs typeface="Arial" pitchFamily="34" charset="-120"/>
                  </a:rPr>
                  <a:t>Processed test set 1,190,080 rows</a:t>
                </a:r>
                <a:endParaRPr lang="en-US" sz="2000" dirty="0"/>
              </a:p>
            </p:txBody>
          </p:sp>
          <p:sp>
            <p:nvSpPr>
              <p:cNvPr id="13" name="Shape 11"/>
              <p:cNvSpPr/>
              <p:nvPr/>
            </p:nvSpPr>
            <p:spPr>
              <a:xfrm>
                <a:off x="7499350" y="4556522"/>
                <a:ext cx="9525" cy="2179141"/>
              </a:xfrm>
              <a:prstGeom prst="rect">
                <a:avLst/>
              </a:prstGeom>
              <a:solidFill>
                <a:srgbClr val="C9C3B6"/>
              </a:solidFill>
              <a:ln/>
            </p:spPr>
            <p:txBody>
              <a:bodyPr/>
              <a:lstStyle/>
              <a:p>
                <a:endParaRPr lang="en-US" sz="2400"/>
              </a:p>
            </p:txBody>
          </p:sp>
          <p:sp>
            <p:nvSpPr>
              <p:cNvPr id="14" name="Text 12"/>
              <p:cNvSpPr/>
              <p:nvPr/>
            </p:nvSpPr>
            <p:spPr>
              <a:xfrm>
                <a:off x="4495800" y="4899422"/>
                <a:ext cx="2818956" cy="346670"/>
              </a:xfrm>
              <a:prstGeom prst="rect">
                <a:avLst/>
              </a:prstGeom>
              <a:noFill/>
              <a:ln/>
            </p:spPr>
            <p:txBody>
              <a:bodyPr wrap="square" lIns="25400" tIns="25400" rIns="25400" bIns="25400" rtlCol="0" anchor="t">
                <a:noAutofit/>
              </a:bodyPr>
              <a:lstStyle/>
              <a:p>
                <a:pPr marL="0" indent="0" algn="l">
                  <a:lnSpc>
                    <a:spcPct val="135000"/>
                  </a:lnSpc>
                  <a:buNone/>
                </a:pPr>
                <a:r>
                  <a:rPr lang="en-US" sz="2000" kern="0" spc="324" dirty="0">
                    <a:solidFill>
                      <a:srgbClr val="5C636E"/>
                    </a:solidFill>
                    <a:latin typeface="Arial" pitchFamily="34" charset="0"/>
                    <a:ea typeface="Arial" pitchFamily="34" charset="-122"/>
                    <a:cs typeface="Arial" pitchFamily="34" charset="-120"/>
                  </a:rPr>
                  <a:t>FEATURES</a:t>
                </a:r>
                <a:endParaRPr lang="en-US" sz="2000" dirty="0"/>
              </a:p>
            </p:txBody>
          </p:sp>
          <p:sp>
            <p:nvSpPr>
              <p:cNvPr id="15" name="Text 13"/>
              <p:cNvSpPr/>
              <p:nvPr/>
            </p:nvSpPr>
            <p:spPr>
              <a:xfrm>
                <a:off x="4495800" y="5360392"/>
                <a:ext cx="2818956" cy="358080"/>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0E1116"/>
                    </a:solidFill>
                    <a:latin typeface="Arial" pitchFamily="34" charset="0"/>
                    <a:ea typeface="Arial" pitchFamily="34" charset="-122"/>
                    <a:cs typeface="Arial" pitchFamily="34" charset="-120"/>
                  </a:rPr>
                  <a:t>30 model inputs</a:t>
                </a:r>
                <a:endParaRPr lang="en-US" sz="2400" dirty="0"/>
              </a:p>
            </p:txBody>
          </p:sp>
          <p:sp>
            <p:nvSpPr>
              <p:cNvPr id="16" name="Text 14"/>
              <p:cNvSpPr/>
              <p:nvPr/>
            </p:nvSpPr>
            <p:spPr>
              <a:xfrm>
                <a:off x="4495800" y="5775623"/>
                <a:ext cx="2818956" cy="655241"/>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A2F36"/>
                    </a:solidFill>
                    <a:latin typeface="Arial" pitchFamily="34" charset="0"/>
                    <a:ea typeface="Arial" pitchFamily="34" charset="-122"/>
                    <a:cs typeface="Arial" pitchFamily="34" charset="-120"/>
                  </a:rPr>
                  <a:t>Non-protected + operational</a:t>
                </a:r>
                <a:endParaRPr lang="en-US" sz="2000" dirty="0"/>
              </a:p>
            </p:txBody>
          </p:sp>
          <p:sp>
            <p:nvSpPr>
              <p:cNvPr id="17" name="Shape 15"/>
              <p:cNvSpPr/>
              <p:nvPr/>
            </p:nvSpPr>
            <p:spPr>
              <a:xfrm>
                <a:off x="10775950" y="4556522"/>
                <a:ext cx="9525" cy="2179141"/>
              </a:xfrm>
              <a:prstGeom prst="rect">
                <a:avLst/>
              </a:prstGeom>
              <a:solidFill>
                <a:srgbClr val="C9C3B6"/>
              </a:solidFill>
              <a:ln/>
            </p:spPr>
            <p:txBody>
              <a:bodyPr/>
              <a:lstStyle/>
              <a:p>
                <a:endParaRPr lang="en-US" sz="2400"/>
              </a:p>
            </p:txBody>
          </p:sp>
          <p:sp>
            <p:nvSpPr>
              <p:cNvPr id="18" name="Text 16"/>
              <p:cNvSpPr/>
              <p:nvPr/>
            </p:nvSpPr>
            <p:spPr>
              <a:xfrm>
                <a:off x="7772400" y="4899422"/>
                <a:ext cx="2818956" cy="346670"/>
              </a:xfrm>
              <a:prstGeom prst="rect">
                <a:avLst/>
              </a:prstGeom>
              <a:noFill/>
              <a:ln/>
            </p:spPr>
            <p:txBody>
              <a:bodyPr wrap="square" lIns="25400" tIns="25400" rIns="25400" bIns="25400" rtlCol="0" anchor="t">
                <a:noAutofit/>
              </a:bodyPr>
              <a:lstStyle/>
              <a:p>
                <a:pPr marL="0" indent="0" algn="l">
                  <a:lnSpc>
                    <a:spcPct val="135000"/>
                  </a:lnSpc>
                  <a:buNone/>
                </a:pPr>
                <a:r>
                  <a:rPr lang="en-US" sz="2000" kern="0" spc="324" dirty="0">
                    <a:solidFill>
                      <a:srgbClr val="5C636E"/>
                    </a:solidFill>
                    <a:latin typeface="Arial" pitchFamily="34" charset="0"/>
                    <a:ea typeface="Arial" pitchFamily="34" charset="-122"/>
                    <a:cs typeface="Arial" pitchFamily="34" charset="-120"/>
                  </a:rPr>
                  <a:t>MODEL</a:t>
                </a:r>
                <a:endParaRPr lang="en-US" sz="2000" dirty="0"/>
              </a:p>
            </p:txBody>
          </p:sp>
          <p:sp>
            <p:nvSpPr>
              <p:cNvPr id="19" name="Text 17"/>
              <p:cNvSpPr/>
              <p:nvPr/>
            </p:nvSpPr>
            <p:spPr>
              <a:xfrm>
                <a:off x="7772400" y="5360392"/>
                <a:ext cx="2818956" cy="358080"/>
              </a:xfrm>
              <a:prstGeom prst="rect">
                <a:avLst/>
              </a:prstGeom>
              <a:noFill/>
              <a:ln/>
            </p:spPr>
            <p:txBody>
              <a:bodyPr wrap="square" lIns="25400" tIns="25400" rIns="25400" bIns="25400" rtlCol="0" anchor="t">
                <a:noAutofit/>
              </a:bodyPr>
              <a:lstStyle/>
              <a:p>
                <a:pPr marL="0" indent="0" algn="l">
                  <a:lnSpc>
                    <a:spcPct val="120000"/>
                  </a:lnSpc>
                  <a:buNone/>
                </a:pPr>
                <a:r>
                  <a:rPr lang="en-US" sz="2400" b="1" dirty="0">
                    <a:solidFill>
                      <a:srgbClr val="0E1116"/>
                    </a:solidFill>
                    <a:latin typeface="Arial" pitchFamily="34" charset="0"/>
                    <a:ea typeface="Arial" pitchFamily="34" charset="-122"/>
                    <a:cs typeface="Arial" pitchFamily="34" charset="-120"/>
                  </a:rPr>
                  <a:t>GBM model</a:t>
                </a:r>
                <a:endParaRPr lang="en-US" sz="2400" dirty="0"/>
              </a:p>
            </p:txBody>
          </p:sp>
          <p:sp>
            <p:nvSpPr>
              <p:cNvPr id="20" name="Text 18"/>
              <p:cNvSpPr/>
              <p:nvPr/>
            </p:nvSpPr>
            <p:spPr>
              <a:xfrm>
                <a:off x="7772400" y="5775623"/>
                <a:ext cx="2818956" cy="655241"/>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A2F36"/>
                    </a:solidFill>
                    <a:latin typeface="Arial" pitchFamily="34" charset="0"/>
                    <a:ea typeface="Arial" pitchFamily="34" charset="-122"/>
                    <a:cs typeface="Arial" pitchFamily="34" charset="-120"/>
                  </a:rPr>
                  <a:t>Approval probability</a:t>
                </a:r>
                <a:endParaRPr lang="en-US" sz="2000" dirty="0"/>
              </a:p>
            </p:txBody>
          </p:sp>
          <p:sp>
            <p:nvSpPr>
              <p:cNvPr id="21" name="Shape 19"/>
              <p:cNvSpPr/>
              <p:nvPr/>
            </p:nvSpPr>
            <p:spPr>
              <a:xfrm>
                <a:off x="14052550" y="4556522"/>
                <a:ext cx="9525" cy="2179141"/>
              </a:xfrm>
              <a:prstGeom prst="rect">
                <a:avLst/>
              </a:prstGeom>
              <a:solidFill>
                <a:srgbClr val="C9C3B6"/>
              </a:solidFill>
              <a:ln/>
            </p:spPr>
            <p:txBody>
              <a:bodyPr/>
              <a:lstStyle/>
              <a:p>
                <a:endParaRPr lang="en-US" sz="2400"/>
              </a:p>
            </p:txBody>
          </p:sp>
          <p:sp>
            <p:nvSpPr>
              <p:cNvPr id="22" name="Text 20"/>
              <p:cNvSpPr/>
              <p:nvPr/>
            </p:nvSpPr>
            <p:spPr>
              <a:xfrm>
                <a:off x="11049000" y="4899422"/>
                <a:ext cx="2818956" cy="346670"/>
              </a:xfrm>
              <a:prstGeom prst="rect">
                <a:avLst/>
              </a:prstGeom>
              <a:noFill/>
              <a:ln/>
            </p:spPr>
            <p:txBody>
              <a:bodyPr wrap="square" lIns="25400" tIns="25400" rIns="25400" bIns="25400" rtlCol="0" anchor="t">
                <a:noAutofit/>
              </a:bodyPr>
              <a:lstStyle/>
              <a:p>
                <a:pPr marL="0" indent="0" algn="l">
                  <a:lnSpc>
                    <a:spcPct val="135000"/>
                  </a:lnSpc>
                  <a:buNone/>
                </a:pPr>
                <a:r>
                  <a:rPr lang="en-US" sz="2000" kern="0" spc="324" dirty="0">
                    <a:solidFill>
                      <a:srgbClr val="5C636E"/>
                    </a:solidFill>
                    <a:latin typeface="Arial" pitchFamily="34" charset="0"/>
                    <a:ea typeface="Arial" pitchFamily="34" charset="-122"/>
                    <a:cs typeface="Arial" pitchFamily="34" charset="-120"/>
                  </a:rPr>
                  <a:t>DECISION RULE</a:t>
                </a:r>
                <a:endParaRPr lang="en-US" sz="2000" dirty="0"/>
              </a:p>
            </p:txBody>
          </p:sp>
          <p:sp>
            <p:nvSpPr>
              <p:cNvPr id="23" name="Text 21"/>
              <p:cNvSpPr/>
              <p:nvPr/>
            </p:nvSpPr>
            <p:spPr>
              <a:xfrm>
                <a:off x="11049000" y="5360392"/>
                <a:ext cx="2818956" cy="358080"/>
              </a:xfrm>
              <a:prstGeom prst="rect">
                <a:avLst/>
              </a:prstGeom>
              <a:noFill/>
              <a:ln/>
            </p:spPr>
            <p:txBody>
              <a:bodyPr wrap="square" lIns="25400" tIns="25400" rIns="25400" bIns="25400" rtlCol="0" anchor="t">
                <a:noAutofit/>
              </a:bodyPr>
              <a:lstStyle/>
              <a:p>
                <a:pPr marL="0" indent="0" algn="l">
                  <a:lnSpc>
                    <a:spcPct val="120000"/>
                  </a:lnSpc>
                  <a:buNone/>
                </a:pPr>
                <a:r>
                  <a:rPr lang="en-US" sz="2400" b="1" dirty="0">
                    <a:solidFill>
                      <a:srgbClr val="0E1116"/>
                    </a:solidFill>
                    <a:latin typeface="Arial" pitchFamily="34" charset="0"/>
                    <a:ea typeface="Arial" pitchFamily="34" charset="-122"/>
                    <a:cs typeface="Arial" pitchFamily="34" charset="-120"/>
                  </a:rPr>
                  <a:t>Approve if</a:t>
                </a:r>
                <a:endParaRPr lang="en-US" sz="2400" dirty="0"/>
              </a:p>
            </p:txBody>
          </p:sp>
          <p:sp>
            <p:nvSpPr>
              <p:cNvPr id="24" name="Text 22"/>
              <p:cNvSpPr/>
              <p:nvPr/>
            </p:nvSpPr>
            <p:spPr>
              <a:xfrm>
                <a:off x="11049000" y="5775623"/>
                <a:ext cx="2818956" cy="346670"/>
              </a:xfrm>
              <a:prstGeom prst="rect">
                <a:avLst/>
              </a:prstGeom>
              <a:noFill/>
              <a:ln/>
            </p:spPr>
            <p:txBody>
              <a:bodyPr wrap="square" lIns="25400" tIns="25400" rIns="25400" bIns="25400" rtlCol="0" anchor="t">
                <a:normAutofit/>
              </a:bodyPr>
              <a:lstStyle/>
              <a:p>
                <a:pPr marL="0" indent="0" algn="l">
                  <a:lnSpc>
                    <a:spcPct val="135000"/>
                  </a:lnSpc>
                  <a:buNone/>
                </a:pPr>
                <a:r>
                  <a:rPr lang="en-US" sz="2000" dirty="0">
                    <a:solidFill>
                      <a:srgbClr val="2A2F36"/>
                    </a:solidFill>
                    <a:latin typeface="Arial" pitchFamily="34" charset="0"/>
                    <a:ea typeface="Arial" pitchFamily="34" charset="-122"/>
                    <a:cs typeface="Arial" pitchFamily="34" charset="-120"/>
                  </a:rPr>
                  <a:t>Score meets threshold</a:t>
                </a:r>
                <a:endParaRPr lang="en-US" sz="2000" dirty="0"/>
              </a:p>
            </p:txBody>
          </p:sp>
          <p:sp>
            <p:nvSpPr>
              <p:cNvPr id="25" name="Text 23"/>
              <p:cNvSpPr/>
              <p:nvPr/>
            </p:nvSpPr>
            <p:spPr>
              <a:xfrm>
                <a:off x="14325600" y="4899422"/>
                <a:ext cx="2825496" cy="346670"/>
              </a:xfrm>
              <a:prstGeom prst="rect">
                <a:avLst/>
              </a:prstGeom>
              <a:noFill/>
              <a:ln/>
            </p:spPr>
            <p:txBody>
              <a:bodyPr wrap="square" lIns="25400" tIns="25400" rIns="25400" bIns="25400" rtlCol="0" anchor="t">
                <a:noAutofit/>
              </a:bodyPr>
              <a:lstStyle/>
              <a:p>
                <a:pPr marL="0" indent="0" algn="l">
                  <a:lnSpc>
                    <a:spcPct val="135000"/>
                  </a:lnSpc>
                  <a:buNone/>
                </a:pPr>
                <a:r>
                  <a:rPr lang="en-US" sz="2000" kern="0" spc="324" dirty="0">
                    <a:solidFill>
                      <a:srgbClr val="5C636E"/>
                    </a:solidFill>
                    <a:latin typeface="Arial" pitchFamily="34" charset="0"/>
                    <a:ea typeface="Arial" pitchFamily="34" charset="-122"/>
                    <a:cs typeface="Arial" pitchFamily="34" charset="-120"/>
                  </a:rPr>
                  <a:t>AUDIT OUTPUTS</a:t>
                </a:r>
                <a:endParaRPr lang="en-US" sz="2000" dirty="0"/>
              </a:p>
            </p:txBody>
          </p:sp>
          <p:sp>
            <p:nvSpPr>
              <p:cNvPr id="26" name="Text 24"/>
              <p:cNvSpPr/>
              <p:nvPr/>
            </p:nvSpPr>
            <p:spPr>
              <a:xfrm>
                <a:off x="14325600" y="5360392"/>
                <a:ext cx="2825496" cy="358080"/>
              </a:xfrm>
              <a:prstGeom prst="rect">
                <a:avLst/>
              </a:prstGeom>
              <a:noFill/>
              <a:ln/>
            </p:spPr>
            <p:txBody>
              <a:bodyPr wrap="square" lIns="25400" tIns="25400" rIns="25400" bIns="25400" rtlCol="0" anchor="t">
                <a:noAutofit/>
              </a:bodyPr>
              <a:lstStyle/>
              <a:p>
                <a:pPr marL="0" indent="0" algn="l">
                  <a:lnSpc>
                    <a:spcPct val="120000"/>
                  </a:lnSpc>
                  <a:buNone/>
                </a:pPr>
                <a:r>
                  <a:rPr lang="en-US" sz="2400" b="1" dirty="0">
                    <a:solidFill>
                      <a:srgbClr val="0E1116"/>
                    </a:solidFill>
                    <a:latin typeface="Arial" pitchFamily="34" charset="0"/>
                    <a:ea typeface="Arial" pitchFamily="34" charset="-122"/>
                    <a:cs typeface="Arial" pitchFamily="34" charset="-120"/>
                  </a:rPr>
                  <a:t>AIR, ME, SMD</a:t>
                </a:r>
                <a:endParaRPr lang="en-US" sz="2400" dirty="0"/>
              </a:p>
            </p:txBody>
          </p:sp>
          <p:sp>
            <p:nvSpPr>
              <p:cNvPr id="27" name="Text 25"/>
              <p:cNvSpPr/>
              <p:nvPr/>
            </p:nvSpPr>
            <p:spPr>
              <a:xfrm>
                <a:off x="14325600" y="5775623"/>
                <a:ext cx="2825496" cy="346670"/>
              </a:xfrm>
              <a:prstGeom prst="rect">
                <a:avLst/>
              </a:prstGeom>
              <a:noFill/>
              <a:ln/>
            </p:spPr>
            <p:txBody>
              <a:bodyPr wrap="square" lIns="25400" tIns="25400" rIns="25400" bIns="25400" rtlCol="0" anchor="t">
                <a:normAutofit/>
              </a:bodyPr>
              <a:lstStyle/>
              <a:p>
                <a:pPr marL="0" indent="0" algn="l">
                  <a:lnSpc>
                    <a:spcPct val="135000"/>
                  </a:lnSpc>
                  <a:buNone/>
                </a:pPr>
                <a:r>
                  <a:rPr lang="en-US" sz="2000" dirty="0">
                    <a:solidFill>
                      <a:srgbClr val="2A2F36"/>
                    </a:solidFill>
                    <a:latin typeface="Arial" pitchFamily="34" charset="0"/>
                    <a:ea typeface="Arial" pitchFamily="34" charset="-122"/>
                    <a:cs typeface="Arial" pitchFamily="34" charset="-120"/>
                  </a:rPr>
                  <a:t>FPR/FNR + Drift</a:t>
                </a:r>
                <a:endParaRPr lang="en-US" sz="2000" dirty="0"/>
              </a:p>
            </p:txBody>
          </p:sp>
        </p:grpSp>
      </p:grpSp>
      <p:sp>
        <p:nvSpPr>
          <p:cNvPr id="28" name="Shape 26"/>
          <p:cNvSpPr/>
          <p:nvPr/>
        </p:nvSpPr>
        <p:spPr>
          <a:xfrm>
            <a:off x="952500" y="9343430"/>
            <a:ext cx="16383000" cy="9525"/>
          </a:xfrm>
          <a:prstGeom prst="rect">
            <a:avLst/>
          </a:prstGeom>
          <a:solidFill>
            <a:srgbClr val="C9C3B6"/>
          </a:solidFill>
          <a:ln/>
        </p:spPr>
        <p:txBody>
          <a:bodyPr/>
          <a:lstStyle/>
          <a:p>
            <a:endParaRPr lang="en-US"/>
          </a:p>
        </p:txBody>
      </p:sp>
      <p:sp>
        <p:nvSpPr>
          <p:cNvPr id="29" name="Text 27"/>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PERFORMANCE EVIDENCE</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GBM selected because it performs best overall</a:t>
            </a:r>
            <a:endParaRPr lang="en-US" sz="4800" dirty="0"/>
          </a:p>
        </p:txBody>
      </p:sp>
      <p:sp>
        <p:nvSpPr>
          <p:cNvPr id="7" name="Text 5"/>
          <p:cNvSpPr/>
          <p:nvPr/>
        </p:nvSpPr>
        <p:spPr>
          <a:xfrm>
            <a:off x="952500" y="2705001"/>
            <a:ext cx="14716125"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dirty="0">
                <a:solidFill>
                  <a:srgbClr val="2A2F36"/>
                </a:solidFill>
                <a:latin typeface="Arial" pitchFamily="34" charset="0"/>
                <a:ea typeface="Arial" pitchFamily="34" charset="-122"/>
                <a:cs typeface="Arial" pitchFamily="34" charset="-120"/>
              </a:rPr>
              <a:t>The performance claim is specific, measured, and tied to the model choice.</a:t>
            </a:r>
            <a:endParaRPr lang="en-US" sz="2700" dirty="0"/>
          </a:p>
        </p:txBody>
      </p:sp>
      <p:sp>
        <p:nvSpPr>
          <p:cNvPr id="8" name="Shape 6"/>
          <p:cNvSpPr/>
          <p:nvPr/>
        </p:nvSpPr>
        <p:spPr>
          <a:xfrm>
            <a:off x="952500" y="3857526"/>
            <a:ext cx="5500688" cy="19050"/>
          </a:xfrm>
          <a:prstGeom prst="rect">
            <a:avLst/>
          </a:prstGeom>
          <a:solidFill>
            <a:srgbClr val="0E1116"/>
          </a:solidFill>
          <a:ln/>
        </p:spPr>
        <p:txBody>
          <a:bodyPr/>
          <a:lstStyle/>
          <a:p>
            <a:endParaRPr lang="en-US"/>
          </a:p>
        </p:txBody>
      </p:sp>
      <p:sp>
        <p:nvSpPr>
          <p:cNvPr id="9" name="Text 7"/>
          <p:cNvSpPr/>
          <p:nvPr/>
        </p:nvSpPr>
        <p:spPr>
          <a:xfrm>
            <a:off x="952500" y="4028976"/>
            <a:ext cx="566570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ROC-AUC</a:t>
            </a:r>
            <a:endParaRPr lang="en-US" sz="1800" dirty="0"/>
          </a:p>
        </p:txBody>
      </p:sp>
      <p:sp>
        <p:nvSpPr>
          <p:cNvPr id="10" name="Text 8"/>
          <p:cNvSpPr/>
          <p:nvPr/>
        </p:nvSpPr>
        <p:spPr>
          <a:xfrm>
            <a:off x="952500" y="4451846"/>
            <a:ext cx="566570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90" dirty="0">
                <a:solidFill>
                  <a:srgbClr val="0E1116"/>
                </a:solidFill>
                <a:latin typeface="Arial" pitchFamily="34" charset="0"/>
                <a:ea typeface="Arial" pitchFamily="34" charset="-122"/>
                <a:cs typeface="Arial" pitchFamily="34" charset="-120"/>
              </a:rPr>
              <a:t>0.8127</a:t>
            </a:r>
            <a:endParaRPr lang="en-US" sz="4500" dirty="0"/>
          </a:p>
        </p:txBody>
      </p:sp>
      <p:sp>
        <p:nvSpPr>
          <p:cNvPr id="11" name="Text 9"/>
          <p:cNvSpPr/>
          <p:nvPr/>
        </p:nvSpPr>
        <p:spPr>
          <a:xfrm>
            <a:off x="952500" y="5099546"/>
            <a:ext cx="566570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Stronger ranking than Logistic Regression</a:t>
            </a:r>
            <a:endParaRPr lang="en-US" sz="1800" dirty="0"/>
          </a:p>
        </p:txBody>
      </p:sp>
      <p:sp>
        <p:nvSpPr>
          <p:cNvPr id="12" name="Shape 10"/>
          <p:cNvSpPr/>
          <p:nvPr/>
        </p:nvSpPr>
        <p:spPr>
          <a:xfrm>
            <a:off x="952500" y="5674816"/>
            <a:ext cx="5500688" cy="19050"/>
          </a:xfrm>
          <a:prstGeom prst="rect">
            <a:avLst/>
          </a:prstGeom>
          <a:solidFill>
            <a:srgbClr val="0E1116"/>
          </a:solidFill>
          <a:ln/>
        </p:spPr>
        <p:txBody>
          <a:bodyPr/>
          <a:lstStyle/>
          <a:p>
            <a:endParaRPr lang="en-US"/>
          </a:p>
        </p:txBody>
      </p:sp>
      <p:sp>
        <p:nvSpPr>
          <p:cNvPr id="13" name="Text 11"/>
          <p:cNvSpPr/>
          <p:nvPr/>
        </p:nvSpPr>
        <p:spPr>
          <a:xfrm>
            <a:off x="952500" y="5846266"/>
            <a:ext cx="566570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PR-AUC</a:t>
            </a:r>
            <a:endParaRPr lang="en-US" sz="1800" dirty="0"/>
          </a:p>
        </p:txBody>
      </p:sp>
      <p:sp>
        <p:nvSpPr>
          <p:cNvPr id="14" name="Text 12"/>
          <p:cNvSpPr/>
          <p:nvPr/>
        </p:nvSpPr>
        <p:spPr>
          <a:xfrm>
            <a:off x="952500" y="6269137"/>
            <a:ext cx="566570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90" dirty="0">
                <a:solidFill>
                  <a:srgbClr val="0E1116"/>
                </a:solidFill>
                <a:latin typeface="Arial" pitchFamily="34" charset="0"/>
                <a:ea typeface="Arial" pitchFamily="34" charset="-122"/>
                <a:cs typeface="Arial" pitchFamily="34" charset="-120"/>
              </a:rPr>
              <a:t>0.9189</a:t>
            </a:r>
            <a:endParaRPr lang="en-US" sz="4500" dirty="0"/>
          </a:p>
        </p:txBody>
      </p:sp>
      <p:sp>
        <p:nvSpPr>
          <p:cNvPr id="15" name="Text 13"/>
          <p:cNvSpPr/>
          <p:nvPr/>
        </p:nvSpPr>
        <p:spPr>
          <a:xfrm>
            <a:off x="952500" y="6916837"/>
            <a:ext cx="566570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Strong precision-recall performance</a:t>
            </a:r>
            <a:endParaRPr lang="en-US" sz="1800" dirty="0"/>
          </a:p>
        </p:txBody>
      </p:sp>
      <p:sp>
        <p:nvSpPr>
          <p:cNvPr id="16" name="Shape 14"/>
          <p:cNvSpPr/>
          <p:nvPr/>
        </p:nvSpPr>
        <p:spPr>
          <a:xfrm>
            <a:off x="952500" y="7492107"/>
            <a:ext cx="5500688" cy="19050"/>
          </a:xfrm>
          <a:prstGeom prst="rect">
            <a:avLst/>
          </a:prstGeom>
          <a:solidFill>
            <a:srgbClr val="0E1116"/>
          </a:solidFill>
          <a:ln/>
        </p:spPr>
        <p:txBody>
          <a:bodyPr/>
          <a:lstStyle/>
          <a:p>
            <a:endParaRPr lang="en-US"/>
          </a:p>
        </p:txBody>
      </p:sp>
      <p:sp>
        <p:nvSpPr>
          <p:cNvPr id="17" name="Text 15"/>
          <p:cNvSpPr/>
          <p:nvPr/>
        </p:nvSpPr>
        <p:spPr>
          <a:xfrm>
            <a:off x="952500" y="7663557"/>
            <a:ext cx="566570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NOT ENOUGH</a:t>
            </a:r>
            <a:endParaRPr lang="en-US" sz="1800" dirty="0"/>
          </a:p>
        </p:txBody>
      </p:sp>
      <p:sp>
        <p:nvSpPr>
          <p:cNvPr id="18" name="Text 16"/>
          <p:cNvSpPr/>
          <p:nvPr/>
        </p:nvSpPr>
        <p:spPr>
          <a:xfrm>
            <a:off x="952500" y="8086427"/>
            <a:ext cx="5665708" cy="76954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400" b="1" kern="0" spc="-48" dirty="0">
                <a:solidFill>
                  <a:srgbClr val="0E1116"/>
                </a:solidFill>
                <a:latin typeface="Arial" pitchFamily="34" charset="0"/>
                <a:ea typeface="Arial" pitchFamily="34" charset="-122"/>
                <a:cs typeface="Arial" pitchFamily="34" charset="-120"/>
              </a:rPr>
              <a:t>Aggregate performance still requires subgroup audit</a:t>
            </a:r>
            <a:endParaRPr lang="en-US" sz="2400" dirty="0"/>
          </a:p>
        </p:txBody>
      </p:sp>
      <p:sp>
        <p:nvSpPr>
          <p:cNvPr id="19" name="Shape 17"/>
          <p:cNvSpPr/>
          <p:nvPr/>
        </p:nvSpPr>
        <p:spPr>
          <a:xfrm>
            <a:off x="7119938" y="3552726"/>
            <a:ext cx="10215563" cy="5790704"/>
          </a:xfrm>
          <a:prstGeom prst="rect">
            <a:avLst/>
          </a:prstGeom>
          <a:solidFill>
            <a:srgbClr val="FFFFFF"/>
          </a:solidFill>
          <a:ln w="6350">
            <a:solidFill>
              <a:srgbClr val="C9C3B6"/>
            </a:solidFill>
            <a:prstDash val="solid"/>
          </a:ln>
        </p:spPr>
        <p:txBody>
          <a:bodyPr/>
          <a:lstStyle/>
          <a:p>
            <a:endParaRPr lang="en-US"/>
          </a:p>
        </p:txBody>
      </p:sp>
      <p:pic>
        <p:nvPicPr>
          <p:cNvPr id="20" name="Image 0" descr="preencoded.png"/>
          <p:cNvPicPr>
            <a:picLocks noChangeAspect="1"/>
          </p:cNvPicPr>
          <p:nvPr/>
        </p:nvPicPr>
        <p:blipFill>
          <a:blip r:embed="rId3"/>
          <a:srcRect/>
          <a:stretch/>
        </p:blipFill>
        <p:spPr>
          <a:xfrm>
            <a:off x="7354888" y="4597797"/>
            <a:ext cx="9745663" cy="3700562"/>
          </a:xfrm>
          <a:prstGeom prst="rect">
            <a:avLst/>
          </a:prstGeom>
        </p:spPr>
      </p:pic>
      <p:sp>
        <p:nvSpPr>
          <p:cNvPr id="21" name="Shape 18"/>
          <p:cNvSpPr/>
          <p:nvPr/>
        </p:nvSpPr>
        <p:spPr>
          <a:xfrm>
            <a:off x="952500" y="9343430"/>
            <a:ext cx="16383000" cy="9525"/>
          </a:xfrm>
          <a:prstGeom prst="rect">
            <a:avLst/>
          </a:prstGeom>
          <a:solidFill>
            <a:srgbClr val="C9C3B6"/>
          </a:solidFill>
          <a:ln/>
        </p:spPr>
        <p:txBody>
          <a:bodyPr/>
          <a:lstStyle/>
          <a:p>
            <a:endParaRPr lang="en-US"/>
          </a:p>
        </p:txBody>
      </p:sp>
      <p:sp>
        <p:nvSpPr>
          <p:cNvPr id="22" name="Text 19"/>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FOUR FINDINGS</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What the audit found</a:t>
            </a:r>
            <a:endParaRPr lang="en-US" sz="4800" dirty="0"/>
          </a:p>
        </p:txBody>
      </p:sp>
      <p:sp>
        <p:nvSpPr>
          <p:cNvPr id="7" name="Text 5"/>
          <p:cNvSpPr/>
          <p:nvPr/>
        </p:nvSpPr>
        <p:spPr>
          <a:xfrm>
            <a:off x="952500" y="2705001"/>
            <a:ext cx="14716125"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dirty="0">
                <a:solidFill>
                  <a:srgbClr val="2A2F36"/>
                </a:solidFill>
                <a:latin typeface="Arial" pitchFamily="34" charset="0"/>
                <a:ea typeface="Arial" pitchFamily="34" charset="-122"/>
                <a:cs typeface="Arial" pitchFamily="34" charset="-120"/>
              </a:rPr>
              <a:t>A strong model can still create legally and ethically meaningful subgroup harm.</a:t>
            </a:r>
            <a:endParaRPr lang="en-US" sz="2700" dirty="0"/>
          </a:p>
        </p:txBody>
      </p:sp>
      <p:sp>
        <p:nvSpPr>
          <p:cNvPr id="8" name="Shape 6"/>
          <p:cNvSpPr/>
          <p:nvPr/>
        </p:nvSpPr>
        <p:spPr>
          <a:xfrm>
            <a:off x="952500" y="3552726"/>
            <a:ext cx="3867150" cy="19050"/>
          </a:xfrm>
          <a:prstGeom prst="rect">
            <a:avLst/>
          </a:prstGeom>
          <a:solidFill>
            <a:srgbClr val="0E1116"/>
          </a:solidFill>
          <a:ln/>
        </p:spPr>
        <p:txBody>
          <a:bodyPr/>
          <a:lstStyle/>
          <a:p>
            <a:endParaRPr lang="en-US"/>
          </a:p>
        </p:txBody>
      </p:sp>
      <p:sp>
        <p:nvSpPr>
          <p:cNvPr id="9" name="Text 7"/>
          <p:cNvSpPr/>
          <p:nvPr/>
        </p:nvSpPr>
        <p:spPr>
          <a:xfrm>
            <a:off x="952500" y="3800376"/>
            <a:ext cx="398316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kern="0" spc="-96" dirty="0">
                <a:solidFill>
                  <a:srgbClr val="B0361C"/>
                </a:solidFill>
                <a:latin typeface="Arial" pitchFamily="34" charset="0"/>
                <a:ea typeface="Arial" pitchFamily="34" charset="-122"/>
                <a:cs typeface="Arial" pitchFamily="34" charset="-120"/>
              </a:rPr>
              <a:t>1</a:t>
            </a:r>
            <a:endParaRPr lang="en-US" sz="4800" dirty="0"/>
          </a:p>
        </p:txBody>
      </p:sp>
      <p:sp>
        <p:nvSpPr>
          <p:cNvPr id="10" name="Text 8"/>
          <p:cNvSpPr/>
          <p:nvPr/>
        </p:nvSpPr>
        <p:spPr>
          <a:xfrm>
            <a:off x="952500" y="4562376"/>
            <a:ext cx="3983165" cy="723900"/>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2250" b="1" dirty="0">
                <a:solidFill>
                  <a:srgbClr val="0E1116"/>
                </a:solidFill>
                <a:latin typeface="Arial" pitchFamily="34" charset="0"/>
                <a:ea typeface="Arial" pitchFamily="34" charset="-122"/>
                <a:cs typeface="Arial" pitchFamily="34" charset="-120"/>
              </a:rPr>
              <a:t>The GBM performs well overall</a:t>
            </a:r>
            <a:endParaRPr lang="en-US" sz="2250" dirty="0"/>
          </a:p>
        </p:txBody>
      </p:sp>
      <p:sp>
        <p:nvSpPr>
          <p:cNvPr id="11" name="Text 9"/>
          <p:cNvSpPr/>
          <p:nvPr/>
        </p:nvSpPr>
        <p:spPr>
          <a:xfrm>
            <a:off x="952501" y="5578376"/>
            <a:ext cx="3867150" cy="998041"/>
          </a:xfrm>
          <a:prstGeom prst="rect">
            <a:avLst/>
          </a:prstGeom>
          <a:noFill/>
          <a:ln/>
        </p:spPr>
        <p:txBody>
          <a:bodyPr wrap="square" lIns="25400" tIns="25400" rIns="25400" bIns="25400" rtlCol="0" anchor="t">
            <a:noAutofit/>
          </a:bodyPr>
          <a:lstStyle/>
          <a:p>
            <a:pPr marL="0" indent="0" algn="l">
              <a:lnSpc>
                <a:spcPct val="140000"/>
              </a:lnSpc>
              <a:buNone/>
            </a:pPr>
            <a:r>
              <a:rPr lang="en-US" dirty="0">
                <a:solidFill>
                  <a:srgbClr val="2A2F36"/>
                </a:solidFill>
                <a:latin typeface="Arial" pitchFamily="34" charset="0"/>
                <a:ea typeface="Arial" pitchFamily="34" charset="-122"/>
                <a:cs typeface="Arial" pitchFamily="34" charset="-120"/>
              </a:rPr>
              <a:t>ROC-AUC = 0.8127 and </a:t>
            </a:r>
          </a:p>
          <a:p>
            <a:pPr marL="0" indent="0" algn="l">
              <a:lnSpc>
                <a:spcPct val="140000"/>
              </a:lnSpc>
              <a:buNone/>
            </a:pPr>
            <a:r>
              <a:rPr lang="en-US" dirty="0">
                <a:solidFill>
                  <a:srgbClr val="2A2F36"/>
                </a:solidFill>
                <a:latin typeface="Arial" pitchFamily="34" charset="0"/>
                <a:ea typeface="Arial" pitchFamily="34" charset="-122"/>
                <a:cs typeface="Arial" pitchFamily="34" charset="-120"/>
              </a:rPr>
              <a:t>PR-AUC = 0.9189; chosen over Logistic Regression.</a:t>
            </a:r>
            <a:endParaRPr lang="en-US" dirty="0"/>
          </a:p>
        </p:txBody>
      </p:sp>
      <p:sp>
        <p:nvSpPr>
          <p:cNvPr id="12" name="Shape 10"/>
          <p:cNvSpPr/>
          <p:nvPr/>
        </p:nvSpPr>
        <p:spPr>
          <a:xfrm>
            <a:off x="5124450" y="3552726"/>
            <a:ext cx="3867150" cy="19050"/>
          </a:xfrm>
          <a:prstGeom prst="rect">
            <a:avLst/>
          </a:prstGeom>
          <a:solidFill>
            <a:srgbClr val="0E1116"/>
          </a:solidFill>
          <a:ln/>
        </p:spPr>
        <p:txBody>
          <a:bodyPr/>
          <a:lstStyle/>
          <a:p>
            <a:endParaRPr lang="en-US"/>
          </a:p>
        </p:txBody>
      </p:sp>
      <p:sp>
        <p:nvSpPr>
          <p:cNvPr id="13" name="Text 11"/>
          <p:cNvSpPr/>
          <p:nvPr/>
        </p:nvSpPr>
        <p:spPr>
          <a:xfrm>
            <a:off x="5124450" y="3800376"/>
            <a:ext cx="398316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kern="0" spc="-96" dirty="0">
                <a:solidFill>
                  <a:srgbClr val="B0361C"/>
                </a:solidFill>
                <a:latin typeface="Arial" pitchFamily="34" charset="0"/>
                <a:ea typeface="Arial" pitchFamily="34" charset="-122"/>
                <a:cs typeface="Arial" pitchFamily="34" charset="-120"/>
              </a:rPr>
              <a:t>2</a:t>
            </a:r>
            <a:endParaRPr lang="en-US" sz="4800" dirty="0"/>
          </a:p>
        </p:txBody>
      </p:sp>
      <p:sp>
        <p:nvSpPr>
          <p:cNvPr id="14" name="Text 12"/>
          <p:cNvSpPr/>
          <p:nvPr/>
        </p:nvSpPr>
        <p:spPr>
          <a:xfrm>
            <a:off x="5124450" y="4562376"/>
            <a:ext cx="3983165" cy="7239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0E1116"/>
                </a:solidFill>
                <a:latin typeface="Arial" pitchFamily="34" charset="0"/>
                <a:ea typeface="Arial" pitchFamily="34" charset="-122"/>
                <a:cs typeface="Arial" pitchFamily="34" charset="-120"/>
              </a:rPr>
              <a:t>Average performance hides harm</a:t>
            </a:r>
            <a:endParaRPr lang="en-US" sz="2250" dirty="0"/>
          </a:p>
        </p:txBody>
      </p:sp>
      <p:sp>
        <p:nvSpPr>
          <p:cNvPr id="15" name="Text 13"/>
          <p:cNvSpPr/>
          <p:nvPr/>
        </p:nvSpPr>
        <p:spPr>
          <a:xfrm>
            <a:off x="5124450" y="5578376"/>
            <a:ext cx="3983165" cy="678061"/>
          </a:xfrm>
          <a:prstGeom prst="rect">
            <a:avLst/>
          </a:prstGeom>
          <a:noFill/>
          <a:ln/>
        </p:spPr>
        <p:txBody>
          <a:bodyPr wrap="square" lIns="25400" tIns="25400" rIns="25400" bIns="25400" rtlCol="0" anchor="t">
            <a:noAutofit/>
          </a:bodyPr>
          <a:lstStyle/>
          <a:p>
            <a:pPr marL="0" indent="0" algn="l">
              <a:lnSpc>
                <a:spcPct val="140000"/>
              </a:lnSpc>
              <a:buNone/>
            </a:pPr>
            <a:r>
              <a:rPr lang="en-US" dirty="0">
                <a:solidFill>
                  <a:srgbClr val="2A2F36"/>
                </a:solidFill>
                <a:latin typeface="Arial" pitchFamily="34" charset="0"/>
                <a:ea typeface="Arial" pitchFamily="34" charset="-122"/>
                <a:cs typeface="Arial" pitchFamily="34" charset="-120"/>
              </a:rPr>
              <a:t>At threshold 0.2575, 39,224 approved applicants are predicted as denied.</a:t>
            </a:r>
            <a:endParaRPr lang="en-US" dirty="0"/>
          </a:p>
        </p:txBody>
      </p:sp>
      <p:sp>
        <p:nvSpPr>
          <p:cNvPr id="16" name="Shape 14"/>
          <p:cNvSpPr/>
          <p:nvPr/>
        </p:nvSpPr>
        <p:spPr>
          <a:xfrm>
            <a:off x="9296400" y="3552726"/>
            <a:ext cx="3867150" cy="19050"/>
          </a:xfrm>
          <a:prstGeom prst="rect">
            <a:avLst/>
          </a:prstGeom>
          <a:solidFill>
            <a:srgbClr val="0E1116"/>
          </a:solidFill>
          <a:ln/>
        </p:spPr>
        <p:txBody>
          <a:bodyPr/>
          <a:lstStyle/>
          <a:p>
            <a:endParaRPr lang="en-US"/>
          </a:p>
        </p:txBody>
      </p:sp>
      <p:sp>
        <p:nvSpPr>
          <p:cNvPr id="17" name="Text 15"/>
          <p:cNvSpPr/>
          <p:nvPr/>
        </p:nvSpPr>
        <p:spPr>
          <a:xfrm>
            <a:off x="9296400" y="3800376"/>
            <a:ext cx="398316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kern="0" spc="-96" dirty="0">
                <a:solidFill>
                  <a:srgbClr val="B0361C"/>
                </a:solidFill>
                <a:latin typeface="Arial" pitchFamily="34" charset="0"/>
                <a:ea typeface="Arial" pitchFamily="34" charset="-122"/>
                <a:cs typeface="Arial" pitchFamily="34" charset="-120"/>
              </a:rPr>
              <a:t>3</a:t>
            </a:r>
            <a:endParaRPr lang="en-US" sz="4800" dirty="0"/>
          </a:p>
        </p:txBody>
      </p:sp>
      <p:sp>
        <p:nvSpPr>
          <p:cNvPr id="18" name="Text 16"/>
          <p:cNvSpPr/>
          <p:nvPr/>
        </p:nvSpPr>
        <p:spPr>
          <a:xfrm>
            <a:off x="9296400" y="4562376"/>
            <a:ext cx="3983165"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0E1116"/>
                </a:solidFill>
                <a:latin typeface="Arial" pitchFamily="34" charset="0"/>
                <a:ea typeface="Arial" pitchFamily="34" charset="-122"/>
                <a:cs typeface="Arial" pitchFamily="34" charset="-120"/>
              </a:rPr>
              <a:t>Fair-lending red flags exist</a:t>
            </a:r>
            <a:endParaRPr lang="en-US" sz="2250" dirty="0"/>
          </a:p>
        </p:txBody>
      </p:sp>
      <p:sp>
        <p:nvSpPr>
          <p:cNvPr id="19" name="Text 17"/>
          <p:cNvSpPr/>
          <p:nvPr/>
        </p:nvSpPr>
        <p:spPr>
          <a:xfrm>
            <a:off x="9296400" y="5578376"/>
            <a:ext cx="3983165" cy="678061"/>
          </a:xfrm>
          <a:prstGeom prst="rect">
            <a:avLst/>
          </a:prstGeom>
          <a:noFill/>
          <a:ln/>
        </p:spPr>
        <p:txBody>
          <a:bodyPr wrap="square" lIns="25400" tIns="25400" rIns="25400" bIns="25400" rtlCol="0" anchor="t">
            <a:noAutofit/>
          </a:bodyPr>
          <a:lstStyle/>
          <a:p>
            <a:pPr marL="0" indent="0" algn="l">
              <a:lnSpc>
                <a:spcPct val="140000"/>
              </a:lnSpc>
              <a:buNone/>
            </a:pPr>
            <a:r>
              <a:rPr lang="en-US" dirty="0">
                <a:solidFill>
                  <a:srgbClr val="2A2F36"/>
                </a:solidFill>
                <a:latin typeface="Arial" pitchFamily="34" charset="0"/>
                <a:ea typeface="Arial" pitchFamily="34" charset="-122"/>
                <a:cs typeface="Arial" pitchFamily="34" charset="-120"/>
              </a:rPr>
              <a:t>AIR &lt; 0.80 for three race groups under the baseline fairness audit.</a:t>
            </a:r>
            <a:endParaRPr lang="en-US" dirty="0"/>
          </a:p>
        </p:txBody>
      </p:sp>
      <p:sp>
        <p:nvSpPr>
          <p:cNvPr id="20" name="Shape 18"/>
          <p:cNvSpPr/>
          <p:nvPr/>
        </p:nvSpPr>
        <p:spPr>
          <a:xfrm>
            <a:off x="13468350" y="3552726"/>
            <a:ext cx="3867150" cy="19050"/>
          </a:xfrm>
          <a:prstGeom prst="rect">
            <a:avLst/>
          </a:prstGeom>
          <a:solidFill>
            <a:srgbClr val="0E1116"/>
          </a:solidFill>
          <a:ln/>
        </p:spPr>
        <p:txBody>
          <a:bodyPr/>
          <a:lstStyle/>
          <a:p>
            <a:endParaRPr lang="en-US"/>
          </a:p>
        </p:txBody>
      </p:sp>
      <p:sp>
        <p:nvSpPr>
          <p:cNvPr id="21" name="Text 19"/>
          <p:cNvSpPr/>
          <p:nvPr/>
        </p:nvSpPr>
        <p:spPr>
          <a:xfrm>
            <a:off x="13468350" y="3800376"/>
            <a:ext cx="398316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kern="0" spc="-96" dirty="0">
                <a:solidFill>
                  <a:srgbClr val="B0361C"/>
                </a:solidFill>
                <a:latin typeface="Arial" pitchFamily="34" charset="0"/>
                <a:ea typeface="Arial" pitchFamily="34" charset="-122"/>
                <a:cs typeface="Arial" pitchFamily="34" charset="-120"/>
              </a:rPr>
              <a:t>4</a:t>
            </a:r>
            <a:endParaRPr lang="en-US" sz="4800" dirty="0"/>
          </a:p>
        </p:txBody>
      </p:sp>
      <p:sp>
        <p:nvSpPr>
          <p:cNvPr id="22" name="Text 20"/>
          <p:cNvSpPr/>
          <p:nvPr/>
        </p:nvSpPr>
        <p:spPr>
          <a:xfrm>
            <a:off x="13468350" y="4562376"/>
            <a:ext cx="3983165"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0E1116"/>
                </a:solidFill>
                <a:latin typeface="Arial" pitchFamily="34" charset="0"/>
                <a:ea typeface="Arial" pitchFamily="34" charset="-122"/>
                <a:cs typeface="Arial" pitchFamily="34" charset="-120"/>
              </a:rPr>
              <a:t>Deployment is conditional</a:t>
            </a:r>
            <a:endParaRPr lang="en-US" sz="2250" dirty="0"/>
          </a:p>
        </p:txBody>
      </p:sp>
      <p:sp>
        <p:nvSpPr>
          <p:cNvPr id="23" name="Text 21"/>
          <p:cNvSpPr/>
          <p:nvPr/>
        </p:nvSpPr>
        <p:spPr>
          <a:xfrm>
            <a:off x="13468350" y="5578376"/>
            <a:ext cx="3983165" cy="998041"/>
          </a:xfrm>
          <a:prstGeom prst="rect">
            <a:avLst/>
          </a:prstGeom>
          <a:noFill/>
          <a:ln/>
        </p:spPr>
        <p:txBody>
          <a:bodyPr wrap="square" lIns="25400" tIns="25400" rIns="25400" bIns="25400" rtlCol="0" anchor="t">
            <a:noAutofit/>
          </a:bodyPr>
          <a:lstStyle/>
          <a:p>
            <a:pPr marL="0" indent="0" algn="l">
              <a:lnSpc>
                <a:spcPct val="140000"/>
              </a:lnSpc>
              <a:buNone/>
            </a:pPr>
            <a:r>
              <a:rPr lang="en-US" dirty="0">
                <a:solidFill>
                  <a:srgbClr val="2A2F36"/>
                </a:solidFill>
                <a:latin typeface="Arial" pitchFamily="34" charset="0"/>
                <a:ea typeface="Arial" pitchFamily="34" charset="-122"/>
                <a:cs typeface="Arial" pitchFamily="34" charset="-120"/>
              </a:rPr>
              <a:t>Threshold mitigation improves AIR, but residual risk requires governance and monitoring.</a:t>
            </a:r>
            <a:endParaRPr lang="en-US" dirty="0"/>
          </a:p>
        </p:txBody>
      </p:sp>
      <p:sp>
        <p:nvSpPr>
          <p:cNvPr id="24" name="Shape 22"/>
          <p:cNvSpPr/>
          <p:nvPr/>
        </p:nvSpPr>
        <p:spPr>
          <a:xfrm>
            <a:off x="952500" y="9343430"/>
            <a:ext cx="16383000" cy="9525"/>
          </a:xfrm>
          <a:prstGeom prst="rect">
            <a:avLst/>
          </a:prstGeom>
          <a:solidFill>
            <a:srgbClr val="C9C3B6"/>
          </a:solidFill>
          <a:ln/>
        </p:spPr>
        <p:txBody>
          <a:bodyPr/>
          <a:lstStyle/>
          <a:p>
            <a:endParaRPr lang="en-US"/>
          </a:p>
        </p:txBody>
      </p:sp>
      <p:sp>
        <p:nvSpPr>
          <p:cNvPr id="25" name="Text 23"/>
          <p:cNvSpPr/>
          <p:nvPr/>
        </p:nvSpPr>
        <p:spPr>
          <a:xfrm>
            <a:off x="952500" y="9559330"/>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KNOWN FAILURE MODES</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Where the model breaks down, who is harmed, and why</a:t>
            </a:r>
            <a:endParaRPr lang="en-US" sz="4800" dirty="0"/>
          </a:p>
        </p:txBody>
      </p:sp>
      <p:sp>
        <p:nvSpPr>
          <p:cNvPr id="7" name="Shape 5"/>
          <p:cNvSpPr/>
          <p:nvPr/>
        </p:nvSpPr>
        <p:spPr>
          <a:xfrm>
            <a:off x="952500" y="2952651"/>
            <a:ext cx="16383000" cy="9525"/>
          </a:xfrm>
          <a:prstGeom prst="rect">
            <a:avLst/>
          </a:prstGeom>
          <a:solidFill>
            <a:srgbClr val="C9C3B6"/>
          </a:solidFill>
          <a:ln/>
        </p:spPr>
        <p:txBody>
          <a:bodyPr/>
          <a:lstStyle/>
          <a:p>
            <a:endParaRPr lang="en-US"/>
          </a:p>
        </p:txBody>
      </p:sp>
      <p:sp>
        <p:nvSpPr>
          <p:cNvPr id="8" name="Text 6"/>
          <p:cNvSpPr/>
          <p:nvPr/>
        </p:nvSpPr>
        <p:spPr>
          <a:xfrm>
            <a:off x="952500" y="3225701"/>
            <a:ext cx="8382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B0361C"/>
                </a:solidFill>
                <a:latin typeface="Arial" pitchFamily="34" charset="0"/>
                <a:ea typeface="Arial" pitchFamily="34" charset="-122"/>
                <a:cs typeface="Arial" pitchFamily="34" charset="-120"/>
              </a:rPr>
              <a:t>1</a:t>
            </a:r>
            <a:endParaRPr lang="en-US" sz="4200" dirty="0"/>
          </a:p>
        </p:txBody>
      </p:sp>
      <p:sp>
        <p:nvSpPr>
          <p:cNvPr id="9" name="Text 7"/>
          <p:cNvSpPr/>
          <p:nvPr/>
        </p:nvSpPr>
        <p:spPr>
          <a:xfrm>
            <a:off x="2095500" y="3225701"/>
            <a:ext cx="8927681" cy="47525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550" b="1" kern="0" spc="-25" dirty="0">
                <a:solidFill>
                  <a:srgbClr val="0E1116"/>
                </a:solidFill>
                <a:latin typeface="Arial" pitchFamily="34" charset="0"/>
                <a:ea typeface="Arial" pitchFamily="34" charset="-122"/>
                <a:cs typeface="Arial" pitchFamily="34" charset="-120"/>
              </a:rPr>
              <a:t>Wrongful denials</a:t>
            </a:r>
            <a:endParaRPr lang="en-US" sz="2550" dirty="0"/>
          </a:p>
        </p:txBody>
      </p:sp>
      <p:sp>
        <p:nvSpPr>
          <p:cNvPr id="10" name="Text 8"/>
          <p:cNvSpPr/>
          <p:nvPr/>
        </p:nvSpPr>
        <p:spPr>
          <a:xfrm>
            <a:off x="2095500" y="3796209"/>
            <a:ext cx="89276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EVIDENCE</a:t>
            </a:r>
            <a:endParaRPr lang="en-US" sz="1800" dirty="0"/>
          </a:p>
        </p:txBody>
      </p:sp>
      <p:sp>
        <p:nvSpPr>
          <p:cNvPr id="11" name="Text 9"/>
          <p:cNvSpPr/>
          <p:nvPr/>
        </p:nvSpPr>
        <p:spPr>
          <a:xfrm>
            <a:off x="2095500" y="4161929"/>
            <a:ext cx="8927681"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39,224 false denials at threshold 0.2575; low-risk tier contains 129,152 approved borrowers predicted denied.</a:t>
            </a:r>
            <a:endParaRPr lang="en-US" sz="1800" dirty="0"/>
          </a:p>
        </p:txBody>
      </p:sp>
      <p:sp>
        <p:nvSpPr>
          <p:cNvPr id="12" name="Text 10"/>
          <p:cNvSpPr/>
          <p:nvPr/>
        </p:nvSpPr>
        <p:spPr>
          <a:xfrm>
            <a:off x="11144151" y="3225701"/>
            <a:ext cx="637698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HARM</a:t>
            </a:r>
            <a:endParaRPr lang="en-US" sz="1800" dirty="0"/>
          </a:p>
        </p:txBody>
      </p:sp>
      <p:sp>
        <p:nvSpPr>
          <p:cNvPr id="13" name="Text 11"/>
          <p:cNvSpPr/>
          <p:nvPr/>
        </p:nvSpPr>
        <p:spPr>
          <a:xfrm>
            <a:off x="11144151" y="3591421"/>
            <a:ext cx="6376988"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Creditworthy applicants face delayed homeownership and reduced financial mobility.</a:t>
            </a:r>
            <a:endParaRPr lang="en-US" sz="1800" dirty="0"/>
          </a:p>
        </p:txBody>
      </p:sp>
      <p:sp>
        <p:nvSpPr>
          <p:cNvPr id="14" name="Shape 12"/>
          <p:cNvSpPr/>
          <p:nvPr/>
        </p:nvSpPr>
        <p:spPr>
          <a:xfrm>
            <a:off x="952500" y="5091410"/>
            <a:ext cx="16383000" cy="9525"/>
          </a:xfrm>
          <a:prstGeom prst="rect">
            <a:avLst/>
          </a:prstGeom>
          <a:solidFill>
            <a:srgbClr val="C9C3B6"/>
          </a:solidFill>
          <a:ln/>
        </p:spPr>
        <p:txBody>
          <a:bodyPr/>
          <a:lstStyle/>
          <a:p>
            <a:endParaRPr lang="en-US"/>
          </a:p>
        </p:txBody>
      </p:sp>
      <p:sp>
        <p:nvSpPr>
          <p:cNvPr id="15" name="Text 13"/>
          <p:cNvSpPr/>
          <p:nvPr/>
        </p:nvSpPr>
        <p:spPr>
          <a:xfrm>
            <a:off x="952500" y="5364460"/>
            <a:ext cx="8382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B0361C"/>
                </a:solidFill>
                <a:latin typeface="Arial" pitchFamily="34" charset="0"/>
                <a:ea typeface="Arial" pitchFamily="34" charset="-122"/>
                <a:cs typeface="Arial" pitchFamily="34" charset="-120"/>
              </a:rPr>
              <a:t>2</a:t>
            </a:r>
            <a:endParaRPr lang="en-US" sz="4200" dirty="0"/>
          </a:p>
        </p:txBody>
      </p:sp>
      <p:sp>
        <p:nvSpPr>
          <p:cNvPr id="16" name="Text 14"/>
          <p:cNvSpPr/>
          <p:nvPr/>
        </p:nvSpPr>
        <p:spPr>
          <a:xfrm>
            <a:off x="2095500" y="5364460"/>
            <a:ext cx="8927681" cy="47525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550" b="1" kern="0" spc="-25" dirty="0">
                <a:solidFill>
                  <a:srgbClr val="0E1116"/>
                </a:solidFill>
                <a:latin typeface="Arial" pitchFamily="34" charset="0"/>
                <a:ea typeface="Arial" pitchFamily="34" charset="-122"/>
                <a:cs typeface="Arial" pitchFamily="34" charset="-120"/>
              </a:rPr>
              <a:t>Disparate impact</a:t>
            </a:r>
            <a:endParaRPr lang="en-US" sz="2550" dirty="0"/>
          </a:p>
        </p:txBody>
      </p:sp>
      <p:sp>
        <p:nvSpPr>
          <p:cNvPr id="17" name="Text 15"/>
          <p:cNvSpPr/>
          <p:nvPr/>
        </p:nvSpPr>
        <p:spPr>
          <a:xfrm>
            <a:off x="2095500" y="5934968"/>
            <a:ext cx="89276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EVIDENCE</a:t>
            </a:r>
            <a:endParaRPr lang="en-US" sz="1800" dirty="0"/>
          </a:p>
        </p:txBody>
      </p:sp>
      <p:sp>
        <p:nvSpPr>
          <p:cNvPr id="18" name="Text 16"/>
          <p:cNvSpPr/>
          <p:nvPr/>
        </p:nvSpPr>
        <p:spPr>
          <a:xfrm>
            <a:off x="2095500" y="6300689"/>
            <a:ext cx="8927681"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AIR &lt; 0.80 for Free Form Text Only, Native Hawaiian or Other Pacific Islander, and American Indian or Alaska Native applicants.</a:t>
            </a:r>
            <a:endParaRPr lang="en-US" sz="1800" dirty="0"/>
          </a:p>
        </p:txBody>
      </p:sp>
      <p:sp>
        <p:nvSpPr>
          <p:cNvPr id="19" name="Text 17"/>
          <p:cNvSpPr/>
          <p:nvPr/>
        </p:nvSpPr>
        <p:spPr>
          <a:xfrm>
            <a:off x="11144151" y="5364460"/>
            <a:ext cx="637698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HARM</a:t>
            </a:r>
            <a:endParaRPr lang="en-US" sz="1800" dirty="0"/>
          </a:p>
        </p:txBody>
      </p:sp>
      <p:sp>
        <p:nvSpPr>
          <p:cNvPr id="20" name="Text 18"/>
          <p:cNvSpPr/>
          <p:nvPr/>
        </p:nvSpPr>
        <p:spPr>
          <a:xfrm>
            <a:off x="11144151" y="5730180"/>
            <a:ext cx="6376988"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Protected groups receive lower approval access relative to White applicants.</a:t>
            </a:r>
            <a:endParaRPr lang="en-US" sz="1800" dirty="0"/>
          </a:p>
        </p:txBody>
      </p:sp>
      <p:sp>
        <p:nvSpPr>
          <p:cNvPr id="21" name="Shape 19"/>
          <p:cNvSpPr/>
          <p:nvPr/>
        </p:nvSpPr>
        <p:spPr>
          <a:xfrm>
            <a:off x="952500" y="9037539"/>
            <a:ext cx="16383000" cy="9525"/>
          </a:xfrm>
          <a:prstGeom prst="rect">
            <a:avLst/>
          </a:prstGeom>
          <a:solidFill>
            <a:srgbClr val="C9C3B6"/>
          </a:solidFill>
          <a:ln/>
        </p:spPr>
        <p:txBody>
          <a:bodyPr/>
          <a:lstStyle/>
          <a:p>
            <a:endParaRPr lang="en-US"/>
          </a:p>
        </p:txBody>
      </p:sp>
      <p:sp>
        <p:nvSpPr>
          <p:cNvPr id="22" name="Shape 20"/>
          <p:cNvSpPr/>
          <p:nvPr/>
        </p:nvSpPr>
        <p:spPr>
          <a:xfrm>
            <a:off x="952500" y="7230170"/>
            <a:ext cx="16383000" cy="9525"/>
          </a:xfrm>
          <a:prstGeom prst="rect">
            <a:avLst/>
          </a:prstGeom>
          <a:solidFill>
            <a:srgbClr val="C9C3B6"/>
          </a:solidFill>
          <a:ln/>
        </p:spPr>
        <p:txBody>
          <a:bodyPr/>
          <a:lstStyle/>
          <a:p>
            <a:endParaRPr lang="en-US"/>
          </a:p>
        </p:txBody>
      </p:sp>
      <p:sp>
        <p:nvSpPr>
          <p:cNvPr id="23" name="Text 21"/>
          <p:cNvSpPr/>
          <p:nvPr/>
        </p:nvSpPr>
        <p:spPr>
          <a:xfrm>
            <a:off x="952500" y="7503220"/>
            <a:ext cx="8382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B0361C"/>
                </a:solidFill>
                <a:latin typeface="Arial" pitchFamily="34" charset="0"/>
                <a:ea typeface="Arial" pitchFamily="34" charset="-122"/>
                <a:cs typeface="Arial" pitchFamily="34" charset="-120"/>
              </a:rPr>
              <a:t>3</a:t>
            </a:r>
            <a:endParaRPr lang="en-US" sz="4200" dirty="0"/>
          </a:p>
        </p:txBody>
      </p:sp>
      <p:sp>
        <p:nvSpPr>
          <p:cNvPr id="24" name="Text 22"/>
          <p:cNvSpPr/>
          <p:nvPr/>
        </p:nvSpPr>
        <p:spPr>
          <a:xfrm>
            <a:off x="2095500" y="7503220"/>
            <a:ext cx="8927681" cy="47525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550" b="1" kern="0" spc="-25" dirty="0">
                <a:solidFill>
                  <a:srgbClr val="0E1116"/>
                </a:solidFill>
                <a:latin typeface="Arial" pitchFamily="34" charset="0"/>
                <a:ea typeface="Arial" pitchFamily="34" charset="-122"/>
                <a:cs typeface="Arial" pitchFamily="34" charset="-120"/>
              </a:rPr>
              <a:t>Threshold sensitivity</a:t>
            </a:r>
            <a:endParaRPr lang="en-US" sz="2550" dirty="0"/>
          </a:p>
        </p:txBody>
      </p:sp>
      <p:sp>
        <p:nvSpPr>
          <p:cNvPr id="25" name="Text 23"/>
          <p:cNvSpPr/>
          <p:nvPr/>
        </p:nvSpPr>
        <p:spPr>
          <a:xfrm>
            <a:off x="2095500" y="8073728"/>
            <a:ext cx="89276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EVIDENCE</a:t>
            </a:r>
            <a:endParaRPr lang="en-US" sz="1800" dirty="0"/>
          </a:p>
        </p:txBody>
      </p:sp>
      <p:sp>
        <p:nvSpPr>
          <p:cNvPr id="26" name="Text 24"/>
          <p:cNvSpPr/>
          <p:nvPr/>
        </p:nvSpPr>
        <p:spPr>
          <a:xfrm>
            <a:off x="2095500" y="8439448"/>
            <a:ext cx="8927681" cy="36949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Subgroup AIR changes materially when the approval cutoff moves from 0.50 to 0.20.</a:t>
            </a:r>
            <a:endParaRPr lang="en-US" sz="1800" dirty="0"/>
          </a:p>
        </p:txBody>
      </p:sp>
      <p:sp>
        <p:nvSpPr>
          <p:cNvPr id="27" name="Text 25"/>
          <p:cNvSpPr/>
          <p:nvPr/>
        </p:nvSpPr>
        <p:spPr>
          <a:xfrm>
            <a:off x="11144151" y="7503220"/>
            <a:ext cx="637698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HARM</a:t>
            </a:r>
            <a:endParaRPr lang="en-US" sz="1800" dirty="0"/>
          </a:p>
        </p:txBody>
      </p:sp>
      <p:sp>
        <p:nvSpPr>
          <p:cNvPr id="28" name="Text 26"/>
          <p:cNvSpPr/>
          <p:nvPr/>
        </p:nvSpPr>
        <p:spPr>
          <a:xfrm>
            <a:off x="11144151" y="7868940"/>
            <a:ext cx="6376988"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Fairness depends on a governance decision, not only model performance.</a:t>
            </a:r>
            <a:endParaRPr lang="en-US" sz="1800" dirty="0"/>
          </a:p>
        </p:txBody>
      </p:sp>
      <p:sp>
        <p:nvSpPr>
          <p:cNvPr id="29" name="Shape 27"/>
          <p:cNvSpPr/>
          <p:nvPr/>
        </p:nvSpPr>
        <p:spPr>
          <a:xfrm>
            <a:off x="952500" y="9343430"/>
            <a:ext cx="16383000" cy="9525"/>
          </a:xfrm>
          <a:prstGeom prst="rect">
            <a:avLst/>
          </a:prstGeom>
          <a:solidFill>
            <a:srgbClr val="C9C3B6"/>
          </a:solidFill>
          <a:ln/>
        </p:spPr>
        <p:txBody>
          <a:bodyPr/>
          <a:lstStyle/>
          <a:p>
            <a:endParaRPr lang="en-US"/>
          </a:p>
        </p:txBody>
      </p:sp>
      <p:sp>
        <p:nvSpPr>
          <p:cNvPr id="30" name="Text 28"/>
          <p:cNvSpPr/>
          <p:nvPr/>
        </p:nvSpPr>
        <p:spPr>
          <a:xfrm>
            <a:off x="952500" y="9559330"/>
            <a:ext cx="15009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EVIDENCE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CLASSIFICATION OUTCOMES · AT THRESHOLD = 0.2575</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False denials are the central ethical harm</a:t>
            </a:r>
            <a:endParaRPr lang="en-US" sz="4800" dirty="0"/>
          </a:p>
        </p:txBody>
      </p:sp>
      <p:sp>
        <p:nvSpPr>
          <p:cNvPr id="7" name="Shape 5"/>
          <p:cNvSpPr/>
          <p:nvPr/>
        </p:nvSpPr>
        <p:spPr>
          <a:xfrm>
            <a:off x="952500" y="2762151"/>
            <a:ext cx="7465219" cy="6961684"/>
          </a:xfrm>
          <a:prstGeom prst="rect">
            <a:avLst/>
          </a:prstGeom>
          <a:solidFill>
            <a:srgbClr val="FFFFFF"/>
          </a:solidFill>
          <a:ln w="6350">
            <a:solidFill>
              <a:srgbClr val="C9C3B6"/>
            </a:solidFill>
            <a:prstDash val="solid"/>
          </a:ln>
        </p:spPr>
        <p:txBody>
          <a:bodyPr/>
          <a:lstStyle/>
          <a:p>
            <a:endParaRPr lang="en-US"/>
          </a:p>
        </p:txBody>
      </p:sp>
      <p:pic>
        <p:nvPicPr>
          <p:cNvPr id="8" name="Image 0" descr="preencoded.png"/>
          <p:cNvPicPr>
            <a:picLocks noChangeAspect="1"/>
          </p:cNvPicPr>
          <p:nvPr/>
        </p:nvPicPr>
        <p:blipFill>
          <a:blip r:embed="rId3"/>
          <a:srcRect/>
          <a:stretch/>
        </p:blipFill>
        <p:spPr>
          <a:xfrm>
            <a:off x="1187450" y="2997101"/>
            <a:ext cx="6995220" cy="6491685"/>
          </a:xfrm>
          <a:prstGeom prst="rect">
            <a:avLst/>
          </a:prstGeom>
        </p:spPr>
      </p:pic>
      <p:sp>
        <p:nvSpPr>
          <p:cNvPr id="9" name="Shape 6"/>
          <p:cNvSpPr/>
          <p:nvPr/>
        </p:nvSpPr>
        <p:spPr>
          <a:xfrm>
            <a:off x="9084469" y="2762151"/>
            <a:ext cx="38100" cy="1325761"/>
          </a:xfrm>
          <a:prstGeom prst="rect">
            <a:avLst/>
          </a:prstGeom>
          <a:solidFill>
            <a:srgbClr val="B0361C"/>
          </a:solidFill>
          <a:ln/>
        </p:spPr>
        <p:txBody>
          <a:bodyPr/>
          <a:lstStyle/>
          <a:p>
            <a:endParaRPr lang="en-US"/>
          </a:p>
        </p:txBody>
      </p:sp>
      <p:sp>
        <p:nvSpPr>
          <p:cNvPr id="10" name="Text 7"/>
          <p:cNvSpPr/>
          <p:nvPr/>
        </p:nvSpPr>
        <p:spPr>
          <a:xfrm>
            <a:off x="9332119" y="2933601"/>
            <a:ext cx="8027646" cy="65524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600" b="1" kern="0" spc="-72" dirty="0">
                <a:solidFill>
                  <a:srgbClr val="B0361C"/>
                </a:solidFill>
                <a:latin typeface="Arial" pitchFamily="34" charset="0"/>
                <a:ea typeface="Arial" pitchFamily="34" charset="-122"/>
                <a:cs typeface="Arial" pitchFamily="34" charset="-120"/>
              </a:rPr>
              <a:t>39,224</a:t>
            </a:r>
            <a:endParaRPr lang="en-US" sz="3600" dirty="0"/>
          </a:p>
        </p:txBody>
      </p:sp>
      <p:sp>
        <p:nvSpPr>
          <p:cNvPr id="11" name="Text 8"/>
          <p:cNvSpPr/>
          <p:nvPr/>
        </p:nvSpPr>
        <p:spPr>
          <a:xfrm>
            <a:off x="9332119" y="3607891"/>
            <a:ext cx="802764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false denials: actually approved, predicted denied</a:t>
            </a:r>
            <a:endParaRPr lang="en-US" sz="1800" dirty="0"/>
          </a:p>
        </p:txBody>
      </p:sp>
      <p:sp>
        <p:nvSpPr>
          <p:cNvPr id="12" name="Shape 9"/>
          <p:cNvSpPr/>
          <p:nvPr/>
        </p:nvSpPr>
        <p:spPr>
          <a:xfrm>
            <a:off x="9084469" y="4259362"/>
            <a:ext cx="38100" cy="1325761"/>
          </a:xfrm>
          <a:prstGeom prst="rect">
            <a:avLst/>
          </a:prstGeom>
          <a:solidFill>
            <a:srgbClr val="B98A2A"/>
          </a:solidFill>
          <a:ln/>
        </p:spPr>
        <p:txBody>
          <a:bodyPr/>
          <a:lstStyle/>
          <a:p>
            <a:endParaRPr lang="en-US"/>
          </a:p>
        </p:txBody>
      </p:sp>
      <p:sp>
        <p:nvSpPr>
          <p:cNvPr id="13" name="Text 10"/>
          <p:cNvSpPr/>
          <p:nvPr/>
        </p:nvSpPr>
        <p:spPr>
          <a:xfrm>
            <a:off x="9332119" y="4430812"/>
            <a:ext cx="8027646" cy="65524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600" b="1" kern="0" spc="-72" dirty="0">
                <a:solidFill>
                  <a:srgbClr val="B98A2A"/>
                </a:solidFill>
                <a:latin typeface="Arial" pitchFamily="34" charset="0"/>
                <a:ea typeface="Arial" pitchFamily="34" charset="-122"/>
                <a:cs typeface="Arial" pitchFamily="34" charset="-120"/>
              </a:rPr>
              <a:t>182,569</a:t>
            </a:r>
            <a:endParaRPr lang="en-US" sz="3600" dirty="0"/>
          </a:p>
        </p:txBody>
      </p:sp>
      <p:sp>
        <p:nvSpPr>
          <p:cNvPr id="14" name="Text 11"/>
          <p:cNvSpPr/>
          <p:nvPr/>
        </p:nvSpPr>
        <p:spPr>
          <a:xfrm>
            <a:off x="9332119" y="5105102"/>
            <a:ext cx="802764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false approvals: actually denied, predicted approved</a:t>
            </a:r>
            <a:endParaRPr lang="en-US" sz="1800" dirty="0"/>
          </a:p>
        </p:txBody>
      </p:sp>
      <p:sp>
        <p:nvSpPr>
          <p:cNvPr id="15" name="Shape 12"/>
          <p:cNvSpPr/>
          <p:nvPr/>
        </p:nvSpPr>
        <p:spPr>
          <a:xfrm>
            <a:off x="9084469" y="5756573"/>
            <a:ext cx="38100" cy="1325761"/>
          </a:xfrm>
          <a:prstGeom prst="rect">
            <a:avLst/>
          </a:prstGeom>
          <a:solidFill>
            <a:srgbClr val="1F6B47"/>
          </a:solidFill>
          <a:ln/>
        </p:spPr>
        <p:txBody>
          <a:bodyPr/>
          <a:lstStyle/>
          <a:p>
            <a:endParaRPr lang="en-US"/>
          </a:p>
        </p:txBody>
      </p:sp>
      <p:sp>
        <p:nvSpPr>
          <p:cNvPr id="16" name="Text 13"/>
          <p:cNvSpPr/>
          <p:nvPr/>
        </p:nvSpPr>
        <p:spPr>
          <a:xfrm>
            <a:off x="9332119" y="5928023"/>
            <a:ext cx="8027646" cy="65524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600" b="1" kern="0" spc="-72" dirty="0">
                <a:solidFill>
                  <a:srgbClr val="1F6B47"/>
                </a:solidFill>
                <a:latin typeface="Arial" pitchFamily="34" charset="0"/>
                <a:ea typeface="Arial" pitchFamily="34" charset="-122"/>
                <a:cs typeface="Arial" pitchFamily="34" charset="-120"/>
              </a:rPr>
              <a:t>862,418</a:t>
            </a:r>
            <a:endParaRPr lang="en-US" sz="3600" dirty="0"/>
          </a:p>
        </p:txBody>
      </p:sp>
      <p:sp>
        <p:nvSpPr>
          <p:cNvPr id="17" name="Text 14"/>
          <p:cNvSpPr/>
          <p:nvPr/>
        </p:nvSpPr>
        <p:spPr>
          <a:xfrm>
            <a:off x="9332119" y="6602313"/>
            <a:ext cx="802764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true approvals</a:t>
            </a:r>
            <a:endParaRPr lang="en-US" sz="1800" dirty="0"/>
          </a:p>
        </p:txBody>
      </p:sp>
      <p:sp>
        <p:nvSpPr>
          <p:cNvPr id="18" name="Shape 15"/>
          <p:cNvSpPr/>
          <p:nvPr/>
        </p:nvSpPr>
        <p:spPr>
          <a:xfrm>
            <a:off x="9084469" y="7253784"/>
            <a:ext cx="38100" cy="1325761"/>
          </a:xfrm>
          <a:prstGeom prst="rect">
            <a:avLst/>
          </a:prstGeom>
          <a:solidFill>
            <a:srgbClr val="C9C3B6"/>
          </a:solidFill>
          <a:ln/>
        </p:spPr>
        <p:txBody>
          <a:bodyPr/>
          <a:lstStyle/>
          <a:p>
            <a:endParaRPr lang="en-US"/>
          </a:p>
        </p:txBody>
      </p:sp>
      <p:sp>
        <p:nvSpPr>
          <p:cNvPr id="19" name="Text 16"/>
          <p:cNvSpPr/>
          <p:nvPr/>
        </p:nvSpPr>
        <p:spPr>
          <a:xfrm>
            <a:off x="9332119" y="7425234"/>
            <a:ext cx="8027646" cy="65524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600" b="1" kern="0" spc="-72" dirty="0">
                <a:solidFill>
                  <a:srgbClr val="0E1116"/>
                </a:solidFill>
                <a:latin typeface="Arial" pitchFamily="34" charset="0"/>
                <a:ea typeface="Arial" pitchFamily="34" charset="-122"/>
                <a:cs typeface="Arial" pitchFamily="34" charset="-120"/>
              </a:rPr>
              <a:t>105,869</a:t>
            </a:r>
            <a:endParaRPr lang="en-US" sz="3600" dirty="0"/>
          </a:p>
        </p:txBody>
      </p:sp>
      <p:sp>
        <p:nvSpPr>
          <p:cNvPr id="20" name="Text 17"/>
          <p:cNvSpPr/>
          <p:nvPr/>
        </p:nvSpPr>
        <p:spPr>
          <a:xfrm>
            <a:off x="9332119" y="8099524"/>
            <a:ext cx="802764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true denials</a:t>
            </a:r>
            <a:endParaRPr lang="en-US" sz="1800" dirty="0"/>
          </a:p>
        </p:txBody>
      </p:sp>
      <p:sp>
        <p:nvSpPr>
          <p:cNvPr id="21" name="Shape 18"/>
          <p:cNvSpPr/>
          <p:nvPr/>
        </p:nvSpPr>
        <p:spPr>
          <a:xfrm>
            <a:off x="952500" y="9723834"/>
            <a:ext cx="16383000" cy="9525"/>
          </a:xfrm>
          <a:prstGeom prst="rect">
            <a:avLst/>
          </a:prstGeom>
          <a:solidFill>
            <a:srgbClr val="C9C3B6"/>
          </a:solidFill>
          <a:ln/>
        </p:spPr>
        <p:txBody>
          <a:bodyPr/>
          <a:lstStyle/>
          <a:p>
            <a:endParaRPr lang="en-US"/>
          </a:p>
        </p:txBody>
      </p:sp>
      <p:sp>
        <p:nvSpPr>
          <p:cNvPr id="22" name="Text 19"/>
          <p:cNvSpPr/>
          <p:nvPr/>
        </p:nvSpPr>
        <p:spPr>
          <a:xfrm>
            <a:off x="952500" y="9939735"/>
            <a:ext cx="4374266"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RESPONSIBLE ML HMDA AUDIT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SUBGROUP FAIRNESS EVALUATION</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AIR flags the most important fair-lending risk</a:t>
            </a:r>
            <a:endParaRPr lang="en-US" sz="4800" dirty="0"/>
          </a:p>
        </p:txBody>
      </p:sp>
      <p:sp>
        <p:nvSpPr>
          <p:cNvPr id="7" name="Text 5"/>
          <p:cNvSpPr/>
          <p:nvPr/>
        </p:nvSpPr>
        <p:spPr>
          <a:xfrm>
            <a:off x="952500" y="2952651"/>
            <a:ext cx="5665708" cy="7810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250" dirty="0">
                <a:solidFill>
                  <a:srgbClr val="0E1116"/>
                </a:solidFill>
                <a:latin typeface="Arial" pitchFamily="34" charset="0"/>
                <a:ea typeface="Arial" pitchFamily="34" charset="-122"/>
                <a:cs typeface="Arial" pitchFamily="34" charset="-120"/>
              </a:rPr>
              <a:t>AIR = group approval rate ÷ White approval rate</a:t>
            </a:r>
            <a:endParaRPr lang="en-US" sz="2250" dirty="0"/>
          </a:p>
        </p:txBody>
      </p:sp>
      <p:sp>
        <p:nvSpPr>
          <p:cNvPr id="8" name="Text 6"/>
          <p:cNvSpPr/>
          <p:nvPr/>
        </p:nvSpPr>
        <p:spPr>
          <a:xfrm>
            <a:off x="952500" y="3828951"/>
            <a:ext cx="566570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AIR &lt; 0.80 is a four-fifths-rule red flag.</a:t>
            </a:r>
            <a:endParaRPr lang="en-US" sz="1800" dirty="0"/>
          </a:p>
        </p:txBody>
      </p:sp>
      <p:sp>
        <p:nvSpPr>
          <p:cNvPr id="9" name="Text 7"/>
          <p:cNvSpPr/>
          <p:nvPr/>
        </p:nvSpPr>
        <p:spPr>
          <a:xfrm>
            <a:off x="952500" y="4377531"/>
            <a:ext cx="5665708" cy="103227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A2F36"/>
                </a:solidFill>
                <a:latin typeface="Arial" pitchFamily="34" charset="0"/>
                <a:ea typeface="Arial" pitchFamily="34" charset="-122"/>
                <a:cs typeface="Arial" pitchFamily="34" charset="-120"/>
              </a:rPr>
              <a:t>Lowest AIR = 0.606 for "Free Form Text Only". </a:t>
            </a:r>
            <a:r>
              <a:rPr lang="en-US" dirty="0">
                <a:solidFill>
                  <a:srgbClr val="2A2F36"/>
                </a:solidFill>
                <a:latin typeface="Arial" pitchFamily="34" charset="0"/>
                <a:ea typeface="Arial" pitchFamily="34" charset="-122"/>
                <a:cs typeface="Arial" pitchFamily="34" charset="-120"/>
              </a:rPr>
              <a:t>T</a:t>
            </a:r>
            <a:r>
              <a:rPr lang="en-US" sz="1800" dirty="0">
                <a:solidFill>
                  <a:srgbClr val="2A2F36"/>
                </a:solidFill>
                <a:latin typeface="Arial" pitchFamily="34" charset="0"/>
                <a:ea typeface="Arial" pitchFamily="34" charset="-122"/>
                <a:cs typeface="Arial" pitchFamily="34" charset="-120"/>
              </a:rPr>
              <a:t>his group receives only about 61 approvals for every 100 White-reference approvals.</a:t>
            </a:r>
            <a:endParaRPr lang="en-US" sz="1800" dirty="0"/>
          </a:p>
        </p:txBody>
      </p:sp>
      <p:sp>
        <p:nvSpPr>
          <p:cNvPr id="10" name="Text 8"/>
          <p:cNvSpPr/>
          <p:nvPr/>
        </p:nvSpPr>
        <p:spPr>
          <a:xfrm>
            <a:off x="952500" y="5676504"/>
            <a:ext cx="5665708"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FLAGGED GROUPS</a:t>
            </a:r>
            <a:endParaRPr lang="en-US" sz="1800" dirty="0"/>
          </a:p>
        </p:txBody>
      </p:sp>
      <p:sp>
        <p:nvSpPr>
          <p:cNvPr id="11" name="Shape 9"/>
          <p:cNvSpPr/>
          <p:nvPr/>
        </p:nvSpPr>
        <p:spPr>
          <a:xfrm>
            <a:off x="952500" y="6347024"/>
            <a:ext cx="5500688" cy="9525"/>
          </a:xfrm>
          <a:prstGeom prst="rect">
            <a:avLst/>
          </a:prstGeom>
          <a:solidFill>
            <a:srgbClr val="C9C3B6"/>
          </a:solidFill>
          <a:ln/>
        </p:spPr>
        <p:txBody>
          <a:bodyPr/>
          <a:lstStyle/>
          <a:p>
            <a:endParaRPr lang="en-US"/>
          </a:p>
        </p:txBody>
      </p:sp>
      <p:sp>
        <p:nvSpPr>
          <p:cNvPr id="12" name="Text 10"/>
          <p:cNvSpPr/>
          <p:nvPr/>
        </p:nvSpPr>
        <p:spPr>
          <a:xfrm>
            <a:off x="952500" y="6543874"/>
            <a:ext cx="3946783" cy="39806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0E1116"/>
                </a:solidFill>
                <a:latin typeface="Arial" pitchFamily="34" charset="0"/>
                <a:ea typeface="Arial" pitchFamily="34" charset="-122"/>
                <a:cs typeface="Arial" pitchFamily="34" charset="-120"/>
              </a:rPr>
              <a:t>"Free Form Text Only"</a:t>
            </a:r>
            <a:endParaRPr lang="en-US" sz="2100" dirty="0"/>
          </a:p>
        </p:txBody>
      </p:sp>
      <p:sp>
        <p:nvSpPr>
          <p:cNvPr id="13" name="Text 11"/>
          <p:cNvSpPr/>
          <p:nvPr/>
        </p:nvSpPr>
        <p:spPr>
          <a:xfrm>
            <a:off x="5012928" y="6543874"/>
            <a:ext cx="1516459" cy="39806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B0361C"/>
                </a:solidFill>
                <a:latin typeface="Arial" pitchFamily="34" charset="0"/>
                <a:ea typeface="Arial" pitchFamily="34" charset="-122"/>
                <a:cs typeface="Arial" pitchFamily="34" charset="-120"/>
              </a:rPr>
              <a:t>AIR 0.606</a:t>
            </a:r>
            <a:endParaRPr lang="en-US" sz="2100" dirty="0"/>
          </a:p>
        </p:txBody>
      </p:sp>
      <p:sp>
        <p:nvSpPr>
          <p:cNvPr id="14" name="Shape 12"/>
          <p:cNvSpPr/>
          <p:nvPr/>
        </p:nvSpPr>
        <p:spPr>
          <a:xfrm>
            <a:off x="952500" y="7094339"/>
            <a:ext cx="5500688" cy="9525"/>
          </a:xfrm>
          <a:prstGeom prst="rect">
            <a:avLst/>
          </a:prstGeom>
          <a:solidFill>
            <a:srgbClr val="C9C3B6"/>
          </a:solidFill>
          <a:ln/>
        </p:spPr>
        <p:txBody>
          <a:bodyPr/>
          <a:lstStyle/>
          <a:p>
            <a:endParaRPr lang="en-US"/>
          </a:p>
        </p:txBody>
      </p:sp>
      <p:sp>
        <p:nvSpPr>
          <p:cNvPr id="15" name="Text 13"/>
          <p:cNvSpPr/>
          <p:nvPr/>
        </p:nvSpPr>
        <p:spPr>
          <a:xfrm>
            <a:off x="952500" y="7291189"/>
            <a:ext cx="3946783" cy="758031"/>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100" dirty="0">
                <a:solidFill>
                  <a:srgbClr val="0E1116"/>
                </a:solidFill>
                <a:latin typeface="Arial" pitchFamily="34" charset="0"/>
                <a:ea typeface="Arial" pitchFamily="34" charset="-122"/>
                <a:cs typeface="Arial" pitchFamily="34" charset="-120"/>
              </a:rPr>
              <a:t>Native Hawaiian / Pacific Islander</a:t>
            </a:r>
            <a:endParaRPr lang="en-US" sz="2100" dirty="0"/>
          </a:p>
        </p:txBody>
      </p:sp>
      <p:sp>
        <p:nvSpPr>
          <p:cNvPr id="16" name="Text 14"/>
          <p:cNvSpPr/>
          <p:nvPr/>
        </p:nvSpPr>
        <p:spPr>
          <a:xfrm>
            <a:off x="5012928" y="7471172"/>
            <a:ext cx="1516459" cy="39806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B0361C"/>
                </a:solidFill>
                <a:latin typeface="Arial" pitchFamily="34" charset="0"/>
                <a:ea typeface="Arial" pitchFamily="34" charset="-122"/>
                <a:cs typeface="Arial" pitchFamily="34" charset="-120"/>
              </a:rPr>
              <a:t>AIR 0.787</a:t>
            </a:r>
            <a:endParaRPr lang="en-US" sz="2100" dirty="0"/>
          </a:p>
        </p:txBody>
      </p:sp>
      <p:sp>
        <p:nvSpPr>
          <p:cNvPr id="17" name="Shape 15"/>
          <p:cNvSpPr/>
          <p:nvPr/>
        </p:nvSpPr>
        <p:spPr>
          <a:xfrm>
            <a:off x="952500" y="8948936"/>
            <a:ext cx="5500688" cy="9525"/>
          </a:xfrm>
          <a:prstGeom prst="rect">
            <a:avLst/>
          </a:prstGeom>
          <a:solidFill>
            <a:srgbClr val="C9C3B6"/>
          </a:solidFill>
          <a:ln/>
        </p:spPr>
        <p:txBody>
          <a:bodyPr/>
          <a:lstStyle/>
          <a:p>
            <a:endParaRPr lang="en-US"/>
          </a:p>
        </p:txBody>
      </p:sp>
      <p:sp>
        <p:nvSpPr>
          <p:cNvPr id="18" name="Shape 16"/>
          <p:cNvSpPr/>
          <p:nvPr/>
        </p:nvSpPr>
        <p:spPr>
          <a:xfrm>
            <a:off x="952500" y="8201620"/>
            <a:ext cx="5500688" cy="9525"/>
          </a:xfrm>
          <a:prstGeom prst="rect">
            <a:avLst/>
          </a:prstGeom>
          <a:solidFill>
            <a:srgbClr val="C9C3B6"/>
          </a:solidFill>
          <a:ln/>
        </p:spPr>
        <p:txBody>
          <a:bodyPr/>
          <a:lstStyle/>
          <a:p>
            <a:endParaRPr lang="en-US"/>
          </a:p>
        </p:txBody>
      </p:sp>
      <p:sp>
        <p:nvSpPr>
          <p:cNvPr id="19" name="Text 17"/>
          <p:cNvSpPr/>
          <p:nvPr/>
        </p:nvSpPr>
        <p:spPr>
          <a:xfrm>
            <a:off x="952500" y="8398471"/>
            <a:ext cx="3946783" cy="39806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0E1116"/>
                </a:solidFill>
                <a:latin typeface="Arial" pitchFamily="34" charset="0"/>
                <a:ea typeface="Arial" pitchFamily="34" charset="-122"/>
                <a:cs typeface="Arial" pitchFamily="34" charset="-120"/>
              </a:rPr>
              <a:t>American Indian / Alaska Native</a:t>
            </a:r>
            <a:endParaRPr lang="en-US" sz="2100" dirty="0"/>
          </a:p>
        </p:txBody>
      </p:sp>
      <p:sp>
        <p:nvSpPr>
          <p:cNvPr id="20" name="Text 18"/>
          <p:cNvSpPr/>
          <p:nvPr/>
        </p:nvSpPr>
        <p:spPr>
          <a:xfrm>
            <a:off x="5012928" y="8398471"/>
            <a:ext cx="1516459" cy="39806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B0361C"/>
                </a:solidFill>
                <a:latin typeface="Arial" pitchFamily="34" charset="0"/>
                <a:ea typeface="Arial" pitchFamily="34" charset="-122"/>
                <a:cs typeface="Arial" pitchFamily="34" charset="-120"/>
              </a:rPr>
              <a:t>AIR 0.800</a:t>
            </a:r>
            <a:endParaRPr lang="en-US" sz="2100" dirty="0"/>
          </a:p>
        </p:txBody>
      </p:sp>
      <p:sp>
        <p:nvSpPr>
          <p:cNvPr id="21" name="Shape 19"/>
          <p:cNvSpPr/>
          <p:nvPr/>
        </p:nvSpPr>
        <p:spPr>
          <a:xfrm>
            <a:off x="7119938" y="2952651"/>
            <a:ext cx="10215563" cy="6390779"/>
          </a:xfrm>
          <a:prstGeom prst="rect">
            <a:avLst/>
          </a:prstGeom>
          <a:solidFill>
            <a:srgbClr val="FFFFFF"/>
          </a:solidFill>
          <a:ln w="6350">
            <a:solidFill>
              <a:srgbClr val="C9C3B6"/>
            </a:solidFill>
            <a:prstDash val="solid"/>
          </a:ln>
        </p:spPr>
        <p:txBody>
          <a:bodyPr/>
          <a:lstStyle/>
          <a:p>
            <a:endParaRPr lang="en-US"/>
          </a:p>
        </p:txBody>
      </p:sp>
      <p:pic>
        <p:nvPicPr>
          <p:cNvPr id="22" name="Image 0" descr="preencoded.png"/>
          <p:cNvPicPr>
            <a:picLocks noChangeAspect="1"/>
          </p:cNvPicPr>
          <p:nvPr/>
        </p:nvPicPr>
        <p:blipFill>
          <a:blip r:embed="rId3"/>
          <a:srcRect/>
          <a:stretch/>
        </p:blipFill>
        <p:spPr>
          <a:xfrm>
            <a:off x="7354888" y="4430217"/>
            <a:ext cx="9745663" cy="3435648"/>
          </a:xfrm>
          <a:prstGeom prst="rect">
            <a:avLst/>
          </a:prstGeom>
        </p:spPr>
      </p:pic>
      <p:sp>
        <p:nvSpPr>
          <p:cNvPr id="23" name="Shape 20"/>
          <p:cNvSpPr/>
          <p:nvPr/>
        </p:nvSpPr>
        <p:spPr>
          <a:xfrm>
            <a:off x="952500" y="9343430"/>
            <a:ext cx="16383000" cy="9525"/>
          </a:xfrm>
          <a:prstGeom prst="rect">
            <a:avLst/>
          </a:prstGeom>
          <a:solidFill>
            <a:srgbClr val="C9C3B6"/>
          </a:solidFill>
          <a:ln/>
        </p:spPr>
        <p:txBody>
          <a:bodyPr/>
          <a:lstStyle/>
          <a:p>
            <a:endParaRPr lang="en-US"/>
          </a:p>
        </p:txBody>
      </p:sp>
      <p:sp>
        <p:nvSpPr>
          <p:cNvPr id="24" name="Text 21"/>
          <p:cNvSpPr/>
          <p:nvPr/>
        </p:nvSpPr>
        <p:spPr>
          <a:xfrm>
            <a:off x="952500" y="9559330"/>
            <a:ext cx="14628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FAIRNESS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ERROR-RATE DISPARITIES BY RISK TIER</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Average model quality hides subgroup-level behavior</a:t>
            </a:r>
            <a:endParaRPr lang="en-US" sz="4800" dirty="0"/>
          </a:p>
        </p:txBody>
      </p:sp>
      <p:sp>
        <p:nvSpPr>
          <p:cNvPr id="7" name="Text 5"/>
          <p:cNvSpPr/>
          <p:nvPr/>
        </p:nvSpPr>
        <p:spPr>
          <a:xfrm>
            <a:off x="952500" y="2705001"/>
            <a:ext cx="14716125" cy="895350"/>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2700" dirty="0">
                <a:solidFill>
                  <a:srgbClr val="2A2F36"/>
                </a:solidFill>
                <a:latin typeface="Arial" pitchFamily="34" charset="0"/>
                <a:ea typeface="Arial" pitchFamily="34" charset="-122"/>
                <a:cs typeface="Arial" pitchFamily="34" charset="-120"/>
              </a:rPr>
              <a:t>Risk-tier and subgroup cuts show whether model errors are concentrated rather than evenly distributed.</a:t>
            </a:r>
            <a:endParaRPr lang="en-US" sz="2700" dirty="0"/>
          </a:p>
        </p:txBody>
      </p:sp>
      <p:sp>
        <p:nvSpPr>
          <p:cNvPr id="8" name="Shape 6"/>
          <p:cNvSpPr/>
          <p:nvPr/>
        </p:nvSpPr>
        <p:spPr>
          <a:xfrm>
            <a:off x="952500" y="3981351"/>
            <a:ext cx="16383000" cy="5362079"/>
          </a:xfrm>
          <a:prstGeom prst="rect">
            <a:avLst/>
          </a:prstGeom>
          <a:solidFill>
            <a:srgbClr val="FFFFFF"/>
          </a:solidFill>
          <a:ln w="6350">
            <a:solidFill>
              <a:srgbClr val="C9C3B6"/>
            </a:solidFill>
            <a:prstDash val="solid"/>
          </a:ln>
        </p:spPr>
        <p:txBody>
          <a:bodyPr/>
          <a:lstStyle/>
          <a:p>
            <a:endParaRPr lang="en-US"/>
          </a:p>
        </p:txBody>
      </p:sp>
      <p:pic>
        <p:nvPicPr>
          <p:cNvPr id="9" name="Image 0" descr="preencoded.png"/>
          <p:cNvPicPr>
            <a:picLocks noChangeAspect="1"/>
          </p:cNvPicPr>
          <p:nvPr/>
        </p:nvPicPr>
        <p:blipFill>
          <a:blip r:embed="rId3"/>
          <a:srcRect/>
          <a:stretch/>
        </p:blipFill>
        <p:spPr>
          <a:xfrm>
            <a:off x="2227362" y="4254401"/>
            <a:ext cx="13833178" cy="4815880"/>
          </a:xfrm>
          <a:prstGeom prst="rect">
            <a:avLst/>
          </a:prstGeom>
        </p:spPr>
      </p:pic>
      <p:sp>
        <p:nvSpPr>
          <p:cNvPr id="10" name="Shape 7"/>
          <p:cNvSpPr/>
          <p:nvPr/>
        </p:nvSpPr>
        <p:spPr>
          <a:xfrm>
            <a:off x="952500" y="9343430"/>
            <a:ext cx="16383000" cy="9525"/>
          </a:xfrm>
          <a:prstGeom prst="rect">
            <a:avLst/>
          </a:prstGeom>
          <a:solidFill>
            <a:srgbClr val="C9C3B6"/>
          </a:solidFill>
          <a:ln/>
        </p:spPr>
        <p:txBody>
          <a:bodyPr/>
          <a:lstStyle/>
          <a:p>
            <a:endParaRPr lang="en-US"/>
          </a:p>
        </p:txBody>
      </p:sp>
      <p:sp>
        <p:nvSpPr>
          <p:cNvPr id="11" name="Text 8"/>
          <p:cNvSpPr/>
          <p:nvPr/>
        </p:nvSpPr>
        <p:spPr>
          <a:xfrm>
            <a:off x="952500" y="9559330"/>
            <a:ext cx="150098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EVIDENCE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BIAS MITIGATION EVIDENCE</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Threshold adjustment improves AIR but increases lender risk</a:t>
            </a:r>
            <a:endParaRPr lang="en-US" sz="4800" dirty="0"/>
          </a:p>
        </p:txBody>
      </p:sp>
      <p:sp>
        <p:nvSpPr>
          <p:cNvPr id="7" name="Shape 5"/>
          <p:cNvSpPr/>
          <p:nvPr/>
        </p:nvSpPr>
        <p:spPr>
          <a:xfrm>
            <a:off x="952500" y="2952651"/>
            <a:ext cx="9822656" cy="6390779"/>
          </a:xfrm>
          <a:prstGeom prst="rect">
            <a:avLst/>
          </a:prstGeom>
          <a:solidFill>
            <a:srgbClr val="FFFFFF"/>
          </a:solidFill>
          <a:ln w="6350">
            <a:solidFill>
              <a:srgbClr val="C9C3B6"/>
            </a:solidFill>
            <a:prstDash val="solid"/>
          </a:ln>
        </p:spPr>
        <p:txBody>
          <a:bodyPr/>
          <a:lstStyle/>
          <a:p>
            <a:endParaRPr lang="en-US"/>
          </a:p>
        </p:txBody>
      </p:sp>
      <p:pic>
        <p:nvPicPr>
          <p:cNvPr id="8" name="Image 0" descr="preencoded.png"/>
          <p:cNvPicPr>
            <a:picLocks noChangeAspect="1"/>
          </p:cNvPicPr>
          <p:nvPr/>
        </p:nvPicPr>
        <p:blipFill>
          <a:blip r:embed="rId3"/>
          <a:srcRect/>
          <a:stretch/>
        </p:blipFill>
        <p:spPr>
          <a:xfrm>
            <a:off x="1187450" y="4172942"/>
            <a:ext cx="9352756" cy="3950196"/>
          </a:xfrm>
          <a:prstGeom prst="rect">
            <a:avLst/>
          </a:prstGeom>
        </p:spPr>
      </p:pic>
      <p:sp>
        <p:nvSpPr>
          <p:cNvPr id="9" name="Shape 6"/>
          <p:cNvSpPr/>
          <p:nvPr/>
        </p:nvSpPr>
        <p:spPr>
          <a:xfrm>
            <a:off x="11441906" y="2952651"/>
            <a:ext cx="5893594" cy="19050"/>
          </a:xfrm>
          <a:prstGeom prst="rect">
            <a:avLst/>
          </a:prstGeom>
          <a:solidFill>
            <a:srgbClr val="0E1116"/>
          </a:solidFill>
          <a:ln/>
        </p:spPr>
        <p:txBody>
          <a:bodyPr/>
          <a:lstStyle/>
          <a:p>
            <a:endParaRPr lang="en-US"/>
          </a:p>
        </p:txBody>
      </p:sp>
      <p:sp>
        <p:nvSpPr>
          <p:cNvPr id="10" name="Text 7"/>
          <p:cNvSpPr/>
          <p:nvPr/>
        </p:nvSpPr>
        <p:spPr>
          <a:xfrm>
            <a:off x="11441906" y="3124101"/>
            <a:ext cx="60704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BEFORE → AFTER</a:t>
            </a:r>
            <a:endParaRPr lang="en-US" sz="1800" dirty="0"/>
          </a:p>
        </p:txBody>
      </p:sp>
      <p:sp>
        <p:nvSpPr>
          <p:cNvPr id="11" name="Text 8"/>
          <p:cNvSpPr/>
          <p:nvPr/>
        </p:nvSpPr>
        <p:spPr>
          <a:xfrm>
            <a:off x="11441906" y="3546971"/>
            <a:ext cx="6070402" cy="495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600" b="1" kern="0" spc="-72" dirty="0">
                <a:solidFill>
                  <a:srgbClr val="0E1116"/>
                </a:solidFill>
                <a:latin typeface="Arial" pitchFamily="34" charset="0"/>
                <a:ea typeface="Arial" pitchFamily="34" charset="-122"/>
                <a:cs typeface="Arial" pitchFamily="34" charset="-120"/>
              </a:rPr>
              <a:t>0.606 → ≥0.820</a:t>
            </a:r>
            <a:endParaRPr lang="en-US" sz="3600" dirty="0"/>
          </a:p>
        </p:txBody>
      </p:sp>
      <p:sp>
        <p:nvSpPr>
          <p:cNvPr id="12" name="Text 9"/>
          <p:cNvSpPr/>
          <p:nvPr/>
        </p:nvSpPr>
        <p:spPr>
          <a:xfrm>
            <a:off x="11441906" y="4080371"/>
            <a:ext cx="60704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Minimum AIR improves above 0.80</a:t>
            </a:r>
            <a:endParaRPr lang="en-US" sz="1800" dirty="0"/>
          </a:p>
        </p:txBody>
      </p:sp>
      <p:sp>
        <p:nvSpPr>
          <p:cNvPr id="13" name="Shape 10"/>
          <p:cNvSpPr/>
          <p:nvPr/>
        </p:nvSpPr>
        <p:spPr>
          <a:xfrm>
            <a:off x="11441906" y="4617541"/>
            <a:ext cx="5893594" cy="19050"/>
          </a:xfrm>
          <a:prstGeom prst="rect">
            <a:avLst/>
          </a:prstGeom>
          <a:solidFill>
            <a:srgbClr val="0E1116"/>
          </a:solidFill>
          <a:ln/>
        </p:spPr>
        <p:txBody>
          <a:bodyPr/>
          <a:lstStyle/>
          <a:p>
            <a:endParaRPr lang="en-US"/>
          </a:p>
        </p:txBody>
      </p:sp>
      <p:sp>
        <p:nvSpPr>
          <p:cNvPr id="14" name="Text 11"/>
          <p:cNvSpPr/>
          <p:nvPr/>
        </p:nvSpPr>
        <p:spPr>
          <a:xfrm>
            <a:off x="11441906" y="4788991"/>
            <a:ext cx="60704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THRESHOLD</a:t>
            </a:r>
            <a:endParaRPr lang="en-US" sz="1800" dirty="0"/>
          </a:p>
        </p:txBody>
      </p:sp>
      <p:sp>
        <p:nvSpPr>
          <p:cNvPr id="15" name="Text 12"/>
          <p:cNvSpPr/>
          <p:nvPr/>
        </p:nvSpPr>
        <p:spPr>
          <a:xfrm>
            <a:off x="11441906" y="5211862"/>
            <a:ext cx="6070402"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90" dirty="0">
                <a:solidFill>
                  <a:srgbClr val="0E1116"/>
                </a:solidFill>
                <a:latin typeface="Arial" pitchFamily="34" charset="0"/>
                <a:ea typeface="Arial" pitchFamily="34" charset="-122"/>
                <a:cs typeface="Arial" pitchFamily="34" charset="-120"/>
              </a:rPr>
              <a:t>0.20</a:t>
            </a:r>
            <a:endParaRPr lang="en-US" sz="4500" dirty="0"/>
          </a:p>
        </p:txBody>
      </p:sp>
      <p:sp>
        <p:nvSpPr>
          <p:cNvPr id="16" name="Text 13"/>
          <p:cNvSpPr/>
          <p:nvPr/>
        </p:nvSpPr>
        <p:spPr>
          <a:xfrm>
            <a:off x="11441906" y="5859562"/>
            <a:ext cx="60704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Fairness-pass threshold tested</a:t>
            </a:r>
            <a:endParaRPr lang="en-US" sz="1800" dirty="0"/>
          </a:p>
        </p:txBody>
      </p:sp>
      <p:sp>
        <p:nvSpPr>
          <p:cNvPr id="17" name="Shape 14"/>
          <p:cNvSpPr/>
          <p:nvPr/>
        </p:nvSpPr>
        <p:spPr>
          <a:xfrm>
            <a:off x="11441906" y="6396732"/>
            <a:ext cx="5893594" cy="19050"/>
          </a:xfrm>
          <a:prstGeom prst="rect">
            <a:avLst/>
          </a:prstGeom>
          <a:solidFill>
            <a:srgbClr val="0E1116"/>
          </a:solidFill>
          <a:ln/>
        </p:spPr>
        <p:txBody>
          <a:bodyPr/>
          <a:lstStyle/>
          <a:p>
            <a:endParaRPr lang="en-US"/>
          </a:p>
        </p:txBody>
      </p:sp>
      <p:sp>
        <p:nvSpPr>
          <p:cNvPr id="18" name="Text 15"/>
          <p:cNvSpPr/>
          <p:nvPr/>
        </p:nvSpPr>
        <p:spPr>
          <a:xfrm>
            <a:off x="11441906" y="6568182"/>
            <a:ext cx="60704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5C636E"/>
                </a:solidFill>
                <a:latin typeface="Arial" pitchFamily="34" charset="0"/>
                <a:ea typeface="Arial" pitchFamily="34" charset="-122"/>
                <a:cs typeface="Arial" pitchFamily="34" charset="-120"/>
              </a:rPr>
              <a:t>COST</a:t>
            </a:r>
            <a:endParaRPr lang="en-US" sz="1800" dirty="0"/>
          </a:p>
        </p:txBody>
      </p:sp>
      <p:sp>
        <p:nvSpPr>
          <p:cNvPr id="19" name="Text 16"/>
          <p:cNvSpPr/>
          <p:nvPr/>
        </p:nvSpPr>
        <p:spPr>
          <a:xfrm>
            <a:off x="11441906" y="6991052"/>
            <a:ext cx="6070402"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90" dirty="0">
                <a:solidFill>
                  <a:srgbClr val="B0361C"/>
                </a:solidFill>
                <a:latin typeface="Arial" pitchFamily="34" charset="0"/>
                <a:ea typeface="Arial" pitchFamily="34" charset="-122"/>
                <a:cs typeface="Arial" pitchFamily="34" charset="-120"/>
              </a:rPr>
              <a:t>19.1% FPR</a:t>
            </a:r>
            <a:endParaRPr lang="en-US" sz="4500" dirty="0"/>
          </a:p>
        </p:txBody>
      </p:sp>
      <p:sp>
        <p:nvSpPr>
          <p:cNvPr id="20" name="Text 17"/>
          <p:cNvSpPr/>
          <p:nvPr/>
        </p:nvSpPr>
        <p:spPr>
          <a:xfrm>
            <a:off x="11441906" y="7638752"/>
            <a:ext cx="60704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2A2F36"/>
                </a:solidFill>
                <a:latin typeface="Arial" pitchFamily="34" charset="0"/>
                <a:ea typeface="Arial" pitchFamily="34" charset="-122"/>
                <a:cs typeface="Arial" pitchFamily="34" charset="-120"/>
              </a:rPr>
              <a:t>Lender risk increases</a:t>
            </a:r>
            <a:endParaRPr lang="en-US" sz="1800" dirty="0"/>
          </a:p>
        </p:txBody>
      </p:sp>
      <p:sp>
        <p:nvSpPr>
          <p:cNvPr id="21" name="Shape 18"/>
          <p:cNvSpPr/>
          <p:nvPr/>
        </p:nvSpPr>
        <p:spPr>
          <a:xfrm>
            <a:off x="952500" y="9343430"/>
            <a:ext cx="16383000" cy="9525"/>
          </a:xfrm>
          <a:prstGeom prst="rect">
            <a:avLst/>
          </a:prstGeom>
          <a:solidFill>
            <a:srgbClr val="C9C3B6"/>
          </a:solidFill>
          <a:ln/>
        </p:spPr>
        <p:txBody>
          <a:bodyPr/>
          <a:lstStyle/>
          <a:p>
            <a:endParaRPr lang="en-US"/>
          </a:p>
        </p:txBody>
      </p:sp>
      <p:sp>
        <p:nvSpPr>
          <p:cNvPr id="22" name="Text 19"/>
          <p:cNvSpPr/>
          <p:nvPr/>
        </p:nvSpPr>
        <p:spPr>
          <a:xfrm>
            <a:off x="952500" y="9559330"/>
            <a:ext cx="1712714"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MITIGATION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RESIDUAL RISKS AFTER MITIGATION</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What remains even after the fairness fix?</a:t>
            </a:r>
            <a:endParaRPr lang="en-US" sz="4800" dirty="0"/>
          </a:p>
        </p:txBody>
      </p:sp>
      <p:sp>
        <p:nvSpPr>
          <p:cNvPr id="7" name="Text 5"/>
          <p:cNvSpPr/>
          <p:nvPr/>
        </p:nvSpPr>
        <p:spPr>
          <a:xfrm>
            <a:off x="952500" y="2705001"/>
            <a:ext cx="14716125"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dirty="0">
                <a:solidFill>
                  <a:srgbClr val="2A2F36"/>
                </a:solidFill>
                <a:latin typeface="Arial" pitchFamily="34" charset="0"/>
                <a:ea typeface="Arial" pitchFamily="34" charset="-122"/>
                <a:cs typeface="Arial" pitchFamily="34" charset="-120"/>
              </a:rPr>
              <a:t>An exemplary audit names residual risks and the conditions under which they are acceptable.</a:t>
            </a:r>
            <a:endParaRPr lang="en-US" sz="2700" dirty="0"/>
          </a:p>
        </p:txBody>
      </p:sp>
      <p:sp>
        <p:nvSpPr>
          <p:cNvPr id="8" name="Shape 6"/>
          <p:cNvSpPr/>
          <p:nvPr/>
        </p:nvSpPr>
        <p:spPr>
          <a:xfrm>
            <a:off x="952500" y="3552726"/>
            <a:ext cx="3093641" cy="19050"/>
          </a:xfrm>
          <a:prstGeom prst="rect">
            <a:avLst/>
          </a:prstGeom>
          <a:solidFill>
            <a:srgbClr val="0E1116"/>
          </a:solidFill>
          <a:ln/>
        </p:spPr>
        <p:txBody>
          <a:bodyPr/>
          <a:lstStyle/>
          <a:p>
            <a:endParaRPr lang="en-US"/>
          </a:p>
        </p:txBody>
      </p:sp>
      <p:sp>
        <p:nvSpPr>
          <p:cNvPr id="9" name="Text 7"/>
          <p:cNvSpPr/>
          <p:nvPr/>
        </p:nvSpPr>
        <p:spPr>
          <a:xfrm>
            <a:off x="952500" y="3743226"/>
            <a:ext cx="3186450" cy="323850"/>
          </a:xfrm>
          <a:prstGeom prst="rect">
            <a:avLst/>
          </a:prstGeom>
          <a:noFill/>
          <a:ln/>
        </p:spPr>
        <p:txBody>
          <a:bodyPr wrap="square" lIns="25400" tIns="25400" rIns="25400" bIns="25400" rtlCol="0" anchor="t">
            <a:noAutofit/>
          </a:bodyPr>
          <a:lstStyle/>
          <a:p>
            <a:pPr marL="0" indent="0" algn="l">
              <a:lnSpc>
                <a:spcPct val="125000"/>
              </a:lnSpc>
              <a:buNone/>
            </a:pPr>
            <a:r>
              <a:rPr lang="en-US" sz="2000" b="1" kern="0" spc="-18" dirty="0">
                <a:solidFill>
                  <a:srgbClr val="0E1116"/>
                </a:solidFill>
                <a:latin typeface="Arial" pitchFamily="34" charset="0"/>
                <a:ea typeface="Arial" pitchFamily="34" charset="-122"/>
                <a:cs typeface="Arial" pitchFamily="34" charset="-120"/>
              </a:rPr>
              <a:t>Reduced predictive power</a:t>
            </a:r>
            <a:endParaRPr lang="en-US" sz="2000" dirty="0"/>
          </a:p>
        </p:txBody>
      </p:sp>
      <p:sp>
        <p:nvSpPr>
          <p:cNvPr id="10" name="Text 8"/>
          <p:cNvSpPr/>
          <p:nvPr/>
        </p:nvSpPr>
        <p:spPr>
          <a:xfrm>
            <a:off x="952500" y="4143276"/>
            <a:ext cx="3186450" cy="99804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Threshold adjustment increases false approvals and lender credit risk.</a:t>
            </a:r>
            <a:endParaRPr lang="en-US" sz="2000" dirty="0"/>
          </a:p>
        </p:txBody>
      </p:sp>
      <p:sp>
        <p:nvSpPr>
          <p:cNvPr id="11" name="Shape 9"/>
          <p:cNvSpPr/>
          <p:nvPr/>
        </p:nvSpPr>
        <p:spPr>
          <a:xfrm>
            <a:off x="952498" y="5943302"/>
            <a:ext cx="3093641" cy="9525"/>
          </a:xfrm>
          <a:prstGeom prst="rect">
            <a:avLst/>
          </a:prstGeom>
          <a:solidFill>
            <a:srgbClr val="C9C3B6"/>
          </a:solidFill>
          <a:ln/>
        </p:spPr>
        <p:txBody>
          <a:bodyPr/>
          <a:lstStyle/>
          <a:p>
            <a:endParaRPr lang="en-US"/>
          </a:p>
        </p:txBody>
      </p:sp>
      <p:sp>
        <p:nvSpPr>
          <p:cNvPr id="12" name="Text 10"/>
          <p:cNvSpPr/>
          <p:nvPr/>
        </p:nvSpPr>
        <p:spPr>
          <a:xfrm>
            <a:off x="952498" y="6063952"/>
            <a:ext cx="3186450" cy="96381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B0361C"/>
                </a:solidFill>
                <a:latin typeface="Arial" pitchFamily="34" charset="0"/>
                <a:ea typeface="Arial" pitchFamily="34" charset="-122"/>
                <a:cs typeface="Arial" pitchFamily="34" charset="-120"/>
              </a:rPr>
              <a:t>ACCEPT IF LOSSES STAY WITHIN RISK APPETITE.</a:t>
            </a:r>
            <a:endParaRPr lang="en-US" sz="1800" dirty="0"/>
          </a:p>
        </p:txBody>
      </p:sp>
      <p:sp>
        <p:nvSpPr>
          <p:cNvPr id="13" name="Shape 11"/>
          <p:cNvSpPr/>
          <p:nvPr/>
        </p:nvSpPr>
        <p:spPr>
          <a:xfrm>
            <a:off x="4274741" y="3552726"/>
            <a:ext cx="3093740" cy="19050"/>
          </a:xfrm>
          <a:prstGeom prst="rect">
            <a:avLst/>
          </a:prstGeom>
          <a:solidFill>
            <a:srgbClr val="0E1116"/>
          </a:solidFill>
          <a:ln/>
        </p:spPr>
        <p:txBody>
          <a:bodyPr/>
          <a:lstStyle/>
          <a:p>
            <a:endParaRPr lang="en-US"/>
          </a:p>
        </p:txBody>
      </p:sp>
      <p:sp>
        <p:nvSpPr>
          <p:cNvPr id="14" name="Text 12"/>
          <p:cNvSpPr/>
          <p:nvPr/>
        </p:nvSpPr>
        <p:spPr>
          <a:xfrm>
            <a:off x="4274741" y="3743226"/>
            <a:ext cx="3186552" cy="323850"/>
          </a:xfrm>
          <a:prstGeom prst="rect">
            <a:avLst/>
          </a:prstGeom>
          <a:noFill/>
          <a:ln/>
        </p:spPr>
        <p:txBody>
          <a:bodyPr wrap="square" lIns="25400" tIns="25400" rIns="25400" bIns="25400" rtlCol="0" anchor="t">
            <a:noAutofit/>
          </a:bodyPr>
          <a:lstStyle/>
          <a:p>
            <a:pPr marL="0" indent="0" algn="l">
              <a:lnSpc>
                <a:spcPct val="125000"/>
              </a:lnSpc>
              <a:buNone/>
            </a:pPr>
            <a:r>
              <a:rPr lang="en-US" sz="2000" b="1" kern="0" spc="-18" dirty="0">
                <a:solidFill>
                  <a:srgbClr val="0E1116"/>
                </a:solidFill>
                <a:latin typeface="Arial" pitchFamily="34" charset="0"/>
                <a:ea typeface="Arial" pitchFamily="34" charset="-122"/>
                <a:cs typeface="Arial" pitchFamily="34" charset="-120"/>
              </a:rPr>
              <a:t>Remaining correlated features</a:t>
            </a:r>
            <a:endParaRPr lang="en-US" sz="2000" dirty="0"/>
          </a:p>
        </p:txBody>
      </p:sp>
      <p:sp>
        <p:nvSpPr>
          <p:cNvPr id="15" name="Text 13"/>
          <p:cNvSpPr/>
          <p:nvPr/>
        </p:nvSpPr>
        <p:spPr>
          <a:xfrm>
            <a:off x="4274741" y="4531716"/>
            <a:ext cx="3186552" cy="60960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Income, DTI, and geography may still encode historical inequality.</a:t>
            </a:r>
            <a:endParaRPr lang="en-US" sz="2000" dirty="0"/>
          </a:p>
        </p:txBody>
      </p:sp>
      <p:sp>
        <p:nvSpPr>
          <p:cNvPr id="16" name="Shape 14"/>
          <p:cNvSpPr/>
          <p:nvPr/>
        </p:nvSpPr>
        <p:spPr>
          <a:xfrm>
            <a:off x="4274739" y="5943302"/>
            <a:ext cx="3093740" cy="9525"/>
          </a:xfrm>
          <a:prstGeom prst="rect">
            <a:avLst/>
          </a:prstGeom>
          <a:solidFill>
            <a:srgbClr val="C9C3B6"/>
          </a:solidFill>
          <a:ln/>
        </p:spPr>
        <p:txBody>
          <a:bodyPr/>
          <a:lstStyle/>
          <a:p>
            <a:endParaRPr lang="en-US"/>
          </a:p>
        </p:txBody>
      </p:sp>
      <p:sp>
        <p:nvSpPr>
          <p:cNvPr id="17" name="Text 15"/>
          <p:cNvSpPr/>
          <p:nvPr/>
        </p:nvSpPr>
        <p:spPr>
          <a:xfrm>
            <a:off x="4274739" y="6063952"/>
            <a:ext cx="3186552" cy="96381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B0361C"/>
                </a:solidFill>
                <a:latin typeface="Arial" pitchFamily="34" charset="0"/>
                <a:ea typeface="Arial" pitchFamily="34" charset="-122"/>
                <a:cs typeface="Arial" pitchFamily="34" charset="-120"/>
              </a:rPr>
              <a:t>NOT ACCEPTABLE LONG-TERM WITHOUT MONITORING.</a:t>
            </a:r>
            <a:endParaRPr lang="en-US" sz="1800" dirty="0"/>
          </a:p>
        </p:txBody>
      </p:sp>
      <p:sp>
        <p:nvSpPr>
          <p:cNvPr id="18" name="Shape 16"/>
          <p:cNvSpPr/>
          <p:nvPr/>
        </p:nvSpPr>
        <p:spPr>
          <a:xfrm>
            <a:off x="7597080" y="3552726"/>
            <a:ext cx="3093740" cy="19050"/>
          </a:xfrm>
          <a:prstGeom prst="rect">
            <a:avLst/>
          </a:prstGeom>
          <a:solidFill>
            <a:srgbClr val="0E1116"/>
          </a:solidFill>
          <a:ln/>
        </p:spPr>
        <p:txBody>
          <a:bodyPr/>
          <a:lstStyle/>
          <a:p>
            <a:endParaRPr lang="en-US"/>
          </a:p>
        </p:txBody>
      </p:sp>
      <p:sp>
        <p:nvSpPr>
          <p:cNvPr id="19" name="Text 17"/>
          <p:cNvSpPr/>
          <p:nvPr/>
        </p:nvSpPr>
        <p:spPr>
          <a:xfrm>
            <a:off x="7597080" y="3743226"/>
            <a:ext cx="3186552" cy="323850"/>
          </a:xfrm>
          <a:prstGeom prst="rect">
            <a:avLst/>
          </a:prstGeom>
          <a:noFill/>
          <a:ln/>
        </p:spPr>
        <p:txBody>
          <a:bodyPr wrap="square" lIns="25400" tIns="25400" rIns="25400" bIns="25400" rtlCol="0" anchor="t">
            <a:noAutofit/>
          </a:bodyPr>
          <a:lstStyle/>
          <a:p>
            <a:pPr marL="0" indent="0" algn="l">
              <a:lnSpc>
                <a:spcPct val="125000"/>
              </a:lnSpc>
              <a:buNone/>
            </a:pPr>
            <a:r>
              <a:rPr lang="en-US" sz="2000" b="1" kern="0" spc="-18" dirty="0">
                <a:solidFill>
                  <a:srgbClr val="0E1116"/>
                </a:solidFill>
                <a:latin typeface="Arial" pitchFamily="34" charset="0"/>
                <a:ea typeface="Arial" pitchFamily="34" charset="-122"/>
                <a:cs typeface="Arial" pitchFamily="34" charset="-120"/>
              </a:rPr>
              <a:t>Data quality differences</a:t>
            </a:r>
            <a:endParaRPr lang="en-US" sz="2000" dirty="0"/>
          </a:p>
        </p:txBody>
      </p:sp>
      <p:sp>
        <p:nvSpPr>
          <p:cNvPr id="20" name="Text 18"/>
          <p:cNvSpPr/>
          <p:nvPr/>
        </p:nvSpPr>
        <p:spPr>
          <a:xfrm>
            <a:off x="7597080" y="4143276"/>
            <a:ext cx="3186552" cy="99804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Applicant-supplied fields may vary by employment type or documentation access.</a:t>
            </a:r>
            <a:endParaRPr lang="en-US" sz="2000" dirty="0"/>
          </a:p>
        </p:txBody>
      </p:sp>
      <p:sp>
        <p:nvSpPr>
          <p:cNvPr id="21" name="Shape 19"/>
          <p:cNvSpPr/>
          <p:nvPr/>
        </p:nvSpPr>
        <p:spPr>
          <a:xfrm>
            <a:off x="7597078" y="5943302"/>
            <a:ext cx="3093740" cy="9525"/>
          </a:xfrm>
          <a:prstGeom prst="rect">
            <a:avLst/>
          </a:prstGeom>
          <a:solidFill>
            <a:srgbClr val="C9C3B6"/>
          </a:solidFill>
          <a:ln/>
        </p:spPr>
        <p:txBody>
          <a:bodyPr/>
          <a:lstStyle/>
          <a:p>
            <a:endParaRPr lang="en-US"/>
          </a:p>
        </p:txBody>
      </p:sp>
      <p:sp>
        <p:nvSpPr>
          <p:cNvPr id="22" name="Text 20"/>
          <p:cNvSpPr/>
          <p:nvPr/>
        </p:nvSpPr>
        <p:spPr>
          <a:xfrm>
            <a:off x="7597078" y="6063952"/>
            <a:ext cx="3186552" cy="96381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B0361C"/>
                </a:solidFill>
                <a:latin typeface="Arial" pitchFamily="34" charset="0"/>
                <a:ea typeface="Arial" pitchFamily="34" charset="-122"/>
                <a:cs typeface="Arial" pitchFamily="34" charset="-120"/>
              </a:rPr>
              <a:t>ACCEPT ONLY WITH COMPLETENESS AUDITS.</a:t>
            </a:r>
            <a:endParaRPr lang="en-US" sz="1800" dirty="0"/>
          </a:p>
        </p:txBody>
      </p:sp>
      <p:sp>
        <p:nvSpPr>
          <p:cNvPr id="23" name="Shape 21"/>
          <p:cNvSpPr/>
          <p:nvPr/>
        </p:nvSpPr>
        <p:spPr>
          <a:xfrm>
            <a:off x="10919421" y="3552726"/>
            <a:ext cx="3093740" cy="19050"/>
          </a:xfrm>
          <a:prstGeom prst="rect">
            <a:avLst/>
          </a:prstGeom>
          <a:solidFill>
            <a:srgbClr val="0E1116"/>
          </a:solidFill>
          <a:ln/>
        </p:spPr>
        <p:txBody>
          <a:bodyPr/>
          <a:lstStyle/>
          <a:p>
            <a:endParaRPr lang="en-US"/>
          </a:p>
        </p:txBody>
      </p:sp>
      <p:sp>
        <p:nvSpPr>
          <p:cNvPr id="24" name="Text 22"/>
          <p:cNvSpPr/>
          <p:nvPr/>
        </p:nvSpPr>
        <p:spPr>
          <a:xfrm>
            <a:off x="10919421" y="3743226"/>
            <a:ext cx="3186552" cy="323850"/>
          </a:xfrm>
          <a:prstGeom prst="rect">
            <a:avLst/>
          </a:prstGeom>
          <a:noFill/>
          <a:ln/>
        </p:spPr>
        <p:txBody>
          <a:bodyPr wrap="square" lIns="25400" tIns="25400" rIns="25400" bIns="25400" rtlCol="0" anchor="t">
            <a:noAutofit/>
          </a:bodyPr>
          <a:lstStyle/>
          <a:p>
            <a:pPr marL="0" indent="0" algn="l">
              <a:lnSpc>
                <a:spcPct val="125000"/>
              </a:lnSpc>
              <a:buNone/>
            </a:pPr>
            <a:r>
              <a:rPr lang="en-US" sz="2000" b="1" kern="0" spc="-18" dirty="0">
                <a:solidFill>
                  <a:srgbClr val="0E1116"/>
                </a:solidFill>
                <a:latin typeface="Arial" pitchFamily="34" charset="0"/>
                <a:ea typeface="Arial" pitchFamily="34" charset="-122"/>
                <a:cs typeface="Arial" pitchFamily="34" charset="-120"/>
              </a:rPr>
              <a:t>Demographic drift</a:t>
            </a:r>
            <a:endParaRPr lang="en-US" sz="2000" dirty="0"/>
          </a:p>
        </p:txBody>
      </p:sp>
      <p:sp>
        <p:nvSpPr>
          <p:cNvPr id="25" name="Text 23"/>
          <p:cNvSpPr/>
          <p:nvPr/>
        </p:nvSpPr>
        <p:spPr>
          <a:xfrm>
            <a:off x="10919421" y="4143276"/>
            <a:ext cx="3186552" cy="67806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2A2F36"/>
                </a:solidFill>
                <a:latin typeface="Arial" pitchFamily="34" charset="0"/>
                <a:ea typeface="Arial" pitchFamily="34" charset="-122"/>
                <a:cs typeface="Arial" pitchFamily="34" charset="-120"/>
              </a:rPr>
              <a:t>Applicant population may shift after deployment.</a:t>
            </a:r>
            <a:endParaRPr lang="en-US" sz="2000" dirty="0"/>
          </a:p>
        </p:txBody>
      </p:sp>
      <p:sp>
        <p:nvSpPr>
          <p:cNvPr id="26" name="Shape 24"/>
          <p:cNvSpPr/>
          <p:nvPr/>
        </p:nvSpPr>
        <p:spPr>
          <a:xfrm>
            <a:off x="10919417" y="5943302"/>
            <a:ext cx="3093740" cy="9525"/>
          </a:xfrm>
          <a:prstGeom prst="rect">
            <a:avLst/>
          </a:prstGeom>
          <a:solidFill>
            <a:srgbClr val="C9C3B6"/>
          </a:solidFill>
          <a:ln/>
        </p:spPr>
        <p:txBody>
          <a:bodyPr/>
          <a:lstStyle/>
          <a:p>
            <a:endParaRPr lang="en-US"/>
          </a:p>
        </p:txBody>
      </p:sp>
      <p:sp>
        <p:nvSpPr>
          <p:cNvPr id="27" name="Text 25"/>
          <p:cNvSpPr/>
          <p:nvPr/>
        </p:nvSpPr>
        <p:spPr>
          <a:xfrm>
            <a:off x="10919419" y="6063952"/>
            <a:ext cx="3186552" cy="6552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B0361C"/>
                </a:solidFill>
                <a:latin typeface="Arial" pitchFamily="34" charset="0"/>
                <a:ea typeface="Arial" pitchFamily="34" charset="-122"/>
                <a:cs typeface="Arial" pitchFamily="34" charset="-120"/>
              </a:rPr>
              <a:t>RETRAIN IF DRIFT EXCEEDS TRIGGER.</a:t>
            </a:r>
            <a:endParaRPr lang="en-US" sz="1800" dirty="0"/>
          </a:p>
        </p:txBody>
      </p:sp>
      <p:sp>
        <p:nvSpPr>
          <p:cNvPr id="28" name="Shape 26"/>
          <p:cNvSpPr/>
          <p:nvPr/>
        </p:nvSpPr>
        <p:spPr>
          <a:xfrm>
            <a:off x="14241761" y="3552726"/>
            <a:ext cx="3093740" cy="19050"/>
          </a:xfrm>
          <a:prstGeom prst="rect">
            <a:avLst/>
          </a:prstGeom>
          <a:solidFill>
            <a:srgbClr val="0E1116"/>
          </a:solidFill>
          <a:ln/>
        </p:spPr>
        <p:txBody>
          <a:bodyPr/>
          <a:lstStyle/>
          <a:p>
            <a:endParaRPr lang="en-US"/>
          </a:p>
        </p:txBody>
      </p:sp>
      <p:sp>
        <p:nvSpPr>
          <p:cNvPr id="29" name="Text 27"/>
          <p:cNvSpPr/>
          <p:nvPr/>
        </p:nvSpPr>
        <p:spPr>
          <a:xfrm>
            <a:off x="14241761" y="3743226"/>
            <a:ext cx="3186552" cy="323850"/>
          </a:xfrm>
          <a:prstGeom prst="rect">
            <a:avLst/>
          </a:prstGeom>
          <a:noFill/>
          <a:ln/>
        </p:spPr>
        <p:txBody>
          <a:bodyPr wrap="square" lIns="25400" tIns="25400" rIns="25400" bIns="25400" rtlCol="0" anchor="t">
            <a:noAutofit/>
          </a:bodyPr>
          <a:lstStyle/>
          <a:p>
            <a:pPr marL="0" indent="0" algn="l">
              <a:lnSpc>
                <a:spcPct val="125000"/>
              </a:lnSpc>
              <a:buNone/>
            </a:pPr>
            <a:r>
              <a:rPr lang="en-US" sz="2000" b="1" kern="0" spc="-18" dirty="0">
                <a:solidFill>
                  <a:srgbClr val="0E1116"/>
                </a:solidFill>
                <a:latin typeface="Arial" pitchFamily="34" charset="0"/>
                <a:ea typeface="Arial" pitchFamily="34" charset="-122"/>
                <a:cs typeface="Arial" pitchFamily="34" charset="-120"/>
              </a:rPr>
              <a:t>Intersectional harm</a:t>
            </a:r>
            <a:endParaRPr lang="en-US" sz="2000" dirty="0"/>
          </a:p>
        </p:txBody>
      </p:sp>
      <p:sp>
        <p:nvSpPr>
          <p:cNvPr id="30" name="Text 28"/>
          <p:cNvSpPr/>
          <p:nvPr/>
        </p:nvSpPr>
        <p:spPr>
          <a:xfrm>
            <a:off x="14241761" y="4143276"/>
            <a:ext cx="3186552"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dirty="0">
                <a:solidFill>
                  <a:srgbClr val="2A2F36"/>
                </a:solidFill>
                <a:latin typeface="Arial" pitchFamily="34" charset="0"/>
                <a:ea typeface="Arial" pitchFamily="34" charset="-122"/>
                <a:cs typeface="Arial" pitchFamily="34" charset="-120"/>
              </a:rPr>
              <a:t>Race × sex combinations can remain disadvantaged even if aggregate AIR improves.</a:t>
            </a:r>
            <a:endParaRPr lang="en-US" dirty="0"/>
          </a:p>
        </p:txBody>
      </p:sp>
      <p:sp>
        <p:nvSpPr>
          <p:cNvPr id="31" name="Shape 29"/>
          <p:cNvSpPr/>
          <p:nvPr/>
        </p:nvSpPr>
        <p:spPr>
          <a:xfrm>
            <a:off x="14241759" y="5943302"/>
            <a:ext cx="3093740" cy="9525"/>
          </a:xfrm>
          <a:prstGeom prst="rect">
            <a:avLst/>
          </a:prstGeom>
          <a:solidFill>
            <a:srgbClr val="C9C3B6"/>
          </a:solidFill>
          <a:ln/>
        </p:spPr>
        <p:txBody>
          <a:bodyPr/>
          <a:lstStyle/>
          <a:p>
            <a:endParaRPr lang="en-US"/>
          </a:p>
        </p:txBody>
      </p:sp>
      <p:sp>
        <p:nvSpPr>
          <p:cNvPr id="32" name="Text 30"/>
          <p:cNvSpPr/>
          <p:nvPr/>
        </p:nvSpPr>
        <p:spPr>
          <a:xfrm>
            <a:off x="14241759" y="6063952"/>
            <a:ext cx="3186552" cy="96381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B0361C"/>
                </a:solidFill>
                <a:latin typeface="Arial" pitchFamily="34" charset="0"/>
                <a:ea typeface="Arial" pitchFamily="34" charset="-122"/>
                <a:cs typeface="Arial" pitchFamily="34" charset="-120"/>
              </a:rPr>
              <a:t>QUARTERLY INTERSECTIONAL AUDIT REQUIRED.</a:t>
            </a:r>
            <a:endParaRPr lang="en-US" sz="1800" dirty="0"/>
          </a:p>
        </p:txBody>
      </p:sp>
      <p:sp>
        <p:nvSpPr>
          <p:cNvPr id="33" name="Shape 31"/>
          <p:cNvSpPr/>
          <p:nvPr/>
        </p:nvSpPr>
        <p:spPr>
          <a:xfrm>
            <a:off x="952500" y="9343430"/>
            <a:ext cx="16383000" cy="9525"/>
          </a:xfrm>
          <a:prstGeom prst="rect">
            <a:avLst/>
          </a:prstGeom>
          <a:solidFill>
            <a:srgbClr val="C9C3B6"/>
          </a:solidFill>
          <a:ln/>
        </p:spPr>
        <p:txBody>
          <a:bodyPr/>
          <a:lstStyle/>
          <a:p>
            <a:endParaRPr lang="en-US"/>
          </a:p>
        </p:txBody>
      </p:sp>
      <p:sp>
        <p:nvSpPr>
          <p:cNvPr id="34" name="Text 32"/>
          <p:cNvSpPr/>
          <p:nvPr/>
        </p:nvSpPr>
        <p:spPr>
          <a:xfrm>
            <a:off x="952500" y="9559330"/>
            <a:ext cx="2224187"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RESIDUAL RISK</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DEPLOYMENT DEFENSIBILITY</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Recommendation: deploy with conditions</a:t>
            </a:r>
            <a:endParaRPr lang="en-US" sz="4800" dirty="0"/>
          </a:p>
        </p:txBody>
      </p:sp>
      <p:sp>
        <p:nvSpPr>
          <p:cNvPr id="7" name="Shape 5"/>
          <p:cNvSpPr/>
          <p:nvPr/>
        </p:nvSpPr>
        <p:spPr>
          <a:xfrm>
            <a:off x="952500" y="3066951"/>
            <a:ext cx="4731941" cy="2891631"/>
          </a:xfrm>
          <a:prstGeom prst="rect">
            <a:avLst/>
          </a:prstGeom>
          <a:solidFill>
            <a:srgbClr val="0E1116"/>
          </a:solidFill>
          <a:ln/>
        </p:spPr>
        <p:txBody>
          <a:bodyPr/>
          <a:lstStyle/>
          <a:p>
            <a:endParaRPr lang="en-US"/>
          </a:p>
        </p:txBody>
      </p:sp>
      <p:sp>
        <p:nvSpPr>
          <p:cNvPr id="8" name="Text 6"/>
          <p:cNvSpPr/>
          <p:nvPr/>
        </p:nvSpPr>
        <p:spPr>
          <a:xfrm>
            <a:off x="1295400" y="3447951"/>
            <a:ext cx="4167525"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60" dirty="0">
                <a:solidFill>
                  <a:srgbClr val="E8C9C0"/>
                </a:solidFill>
                <a:latin typeface="Arial" pitchFamily="34" charset="0"/>
                <a:ea typeface="Arial" pitchFamily="34" charset="-122"/>
                <a:cs typeface="Arial" pitchFamily="34" charset="-120"/>
              </a:rPr>
              <a:t>VERDICT</a:t>
            </a:r>
            <a:endParaRPr lang="en-US" sz="1800" dirty="0"/>
          </a:p>
        </p:txBody>
      </p:sp>
      <p:sp>
        <p:nvSpPr>
          <p:cNvPr id="9" name="Text 7"/>
          <p:cNvSpPr/>
          <p:nvPr/>
        </p:nvSpPr>
        <p:spPr>
          <a:xfrm>
            <a:off x="1295400" y="3889871"/>
            <a:ext cx="4167525"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kern="0" spc="-66" dirty="0">
                <a:solidFill>
                  <a:srgbClr val="F6F4EE"/>
                </a:solidFill>
                <a:latin typeface="Arial" pitchFamily="34" charset="0"/>
                <a:ea typeface="Arial" pitchFamily="34" charset="-122"/>
                <a:cs typeface="Arial" pitchFamily="34" charset="-120"/>
              </a:rPr>
              <a:t>DEPLOY WITH CONDITIONS</a:t>
            </a:r>
            <a:endParaRPr lang="en-US" sz="3300" dirty="0"/>
          </a:p>
        </p:txBody>
      </p:sp>
      <p:sp>
        <p:nvSpPr>
          <p:cNvPr id="10" name="Text 8"/>
          <p:cNvSpPr/>
          <p:nvPr/>
        </p:nvSpPr>
        <p:spPr>
          <a:xfrm>
            <a:off x="1295400" y="4878387"/>
            <a:ext cx="4389041" cy="952202"/>
          </a:xfrm>
          <a:prstGeom prst="rect">
            <a:avLst/>
          </a:prstGeom>
          <a:noFill/>
          <a:ln/>
        </p:spPr>
        <p:txBody>
          <a:bodyPr wrap="square" lIns="25400" tIns="25400" rIns="25400" bIns="25400" rtlCol="0" anchor="t">
            <a:normAutofit/>
          </a:bodyPr>
          <a:lstStyle/>
          <a:p>
            <a:pPr marL="0" indent="0" algn="l">
              <a:lnSpc>
                <a:spcPct val="140000"/>
              </a:lnSpc>
              <a:buNone/>
            </a:pPr>
            <a:r>
              <a:rPr lang="en-US" sz="2000" dirty="0">
                <a:solidFill>
                  <a:srgbClr val="F6F4EE">
                    <a:alpha val="78000"/>
                  </a:srgbClr>
                </a:solidFill>
                <a:latin typeface="Arial" pitchFamily="34" charset="0"/>
                <a:ea typeface="Arial" pitchFamily="34" charset="-122"/>
                <a:cs typeface="Arial" pitchFamily="34" charset="-120"/>
              </a:rPr>
              <a:t>Not autonomous denial; use with governance.</a:t>
            </a:r>
            <a:endParaRPr lang="en-US" sz="2000" dirty="0"/>
          </a:p>
        </p:txBody>
      </p:sp>
      <p:sp>
        <p:nvSpPr>
          <p:cNvPr id="11" name="Text 9"/>
          <p:cNvSpPr/>
          <p:nvPr/>
        </p:nvSpPr>
        <p:spPr>
          <a:xfrm>
            <a:off x="6134021" y="3066951"/>
            <a:ext cx="2579291"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BEFORE LAUNCH</a:t>
            </a:r>
            <a:endParaRPr lang="en-US" sz="1800" dirty="0"/>
          </a:p>
        </p:txBody>
      </p:sp>
      <p:sp>
        <p:nvSpPr>
          <p:cNvPr id="12" name="Text 10"/>
          <p:cNvSpPr/>
          <p:nvPr/>
        </p:nvSpPr>
        <p:spPr>
          <a:xfrm>
            <a:off x="6134021" y="3546971"/>
            <a:ext cx="2739311" cy="2662833"/>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Risk committee approval</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Compliance/legal sign-off</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Human review for borderline denials</a:t>
            </a:r>
            <a:endParaRPr lang="en-US" sz="1800" dirty="0"/>
          </a:p>
        </p:txBody>
      </p:sp>
      <p:sp>
        <p:nvSpPr>
          <p:cNvPr id="13" name="Text 11"/>
          <p:cNvSpPr/>
          <p:nvPr/>
        </p:nvSpPr>
        <p:spPr>
          <a:xfrm>
            <a:off x="8980012" y="3066951"/>
            <a:ext cx="25793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MONITORING</a:t>
            </a:r>
            <a:endParaRPr lang="en-US" sz="1800" dirty="0"/>
          </a:p>
        </p:txBody>
      </p:sp>
      <p:sp>
        <p:nvSpPr>
          <p:cNvPr id="14" name="Text 12"/>
          <p:cNvSpPr/>
          <p:nvPr/>
        </p:nvSpPr>
        <p:spPr>
          <a:xfrm>
            <a:off x="8980012" y="3546971"/>
            <a:ext cx="2739410" cy="2342852"/>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Monthly AIR review</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Quarterly demographic drift</a:t>
            </a:r>
            <a:r>
              <a:rPr lang="en-US" dirty="0"/>
              <a:t> </a:t>
            </a:r>
            <a:r>
              <a:rPr lang="en-US" sz="1800" dirty="0">
                <a:solidFill>
                  <a:srgbClr val="2A2F36"/>
                </a:solidFill>
                <a:latin typeface="Arial" pitchFamily="34" charset="0"/>
                <a:ea typeface="Arial" pitchFamily="34" charset="-122"/>
                <a:cs typeface="Arial" pitchFamily="34" charset="-120"/>
              </a:rPr>
              <a:t>Annual retraining decision</a:t>
            </a:r>
            <a:endParaRPr lang="en-US" sz="1800" dirty="0"/>
          </a:p>
        </p:txBody>
      </p:sp>
      <p:sp>
        <p:nvSpPr>
          <p:cNvPr id="15" name="Text 13"/>
          <p:cNvSpPr/>
          <p:nvPr/>
        </p:nvSpPr>
        <p:spPr>
          <a:xfrm>
            <a:off x="11826102" y="3066951"/>
            <a:ext cx="25793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AUDIT RECORD</a:t>
            </a:r>
            <a:endParaRPr lang="en-US" sz="1800" dirty="0"/>
          </a:p>
        </p:txBody>
      </p:sp>
      <p:sp>
        <p:nvSpPr>
          <p:cNvPr id="16" name="Text 14"/>
          <p:cNvSpPr/>
          <p:nvPr/>
        </p:nvSpPr>
        <p:spPr>
          <a:xfrm>
            <a:off x="11826102" y="3546971"/>
            <a:ext cx="2739410" cy="2427883"/>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GitHub repo as reproducible evidence</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Versioned code, outputs, and model card</a:t>
            </a:r>
            <a:endParaRPr lang="en-US" sz="1800" dirty="0"/>
          </a:p>
        </p:txBody>
      </p:sp>
      <p:sp>
        <p:nvSpPr>
          <p:cNvPr id="17" name="Text 15"/>
          <p:cNvSpPr/>
          <p:nvPr/>
        </p:nvSpPr>
        <p:spPr>
          <a:xfrm>
            <a:off x="14832210" y="3065065"/>
            <a:ext cx="3455789" cy="963811"/>
          </a:xfrm>
          <a:prstGeom prst="rect">
            <a:avLst/>
          </a:prstGeom>
          <a:noFill/>
          <a:ln/>
        </p:spPr>
        <p:txBody>
          <a:bodyPr wrap="square" lIns="25400" tIns="25400" rIns="25400" bIns="25400" rtlCol="0" anchor="t">
            <a:normAutofit/>
          </a:bodyPr>
          <a:lstStyle/>
          <a:p>
            <a:pPr marL="0" indent="0" algn="l">
              <a:lnSpc>
                <a:spcPct val="135000"/>
              </a:lnSpc>
              <a:buNone/>
            </a:pPr>
            <a:r>
              <a:rPr lang="en-US" sz="1700" kern="0" spc="288" dirty="0">
                <a:solidFill>
                  <a:srgbClr val="B0361C"/>
                </a:solidFill>
                <a:latin typeface="Arial" pitchFamily="34" charset="0"/>
                <a:ea typeface="Arial" pitchFamily="34" charset="-122"/>
                <a:cs typeface="Arial" pitchFamily="34" charset="-120"/>
              </a:rPr>
              <a:t>PULL / RE-EVALUATE TRIGGERS</a:t>
            </a:r>
            <a:endParaRPr lang="en-US" sz="1700" dirty="0"/>
          </a:p>
        </p:txBody>
      </p:sp>
      <p:sp>
        <p:nvSpPr>
          <p:cNvPr id="18" name="Text 16"/>
          <p:cNvSpPr/>
          <p:nvPr/>
        </p:nvSpPr>
        <p:spPr>
          <a:xfrm>
            <a:off x="14832210" y="3980854"/>
            <a:ext cx="2739410" cy="4412655"/>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AIR &lt; 0.80 in monitoring</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PSI &gt; 0.25 or Wasserstein &gt; 0.05</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AUC drops below 0.75</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Loan losses exceed risk appetite</a:t>
            </a:r>
            <a:endParaRPr lang="en-US" sz="1800" dirty="0"/>
          </a:p>
          <a:p>
            <a:pPr marL="0" indent="0" algn="l">
              <a:lnSpc>
                <a:spcPct val="140000"/>
              </a:lnSpc>
              <a:buNone/>
            </a:pPr>
            <a:r>
              <a:rPr lang="en-US" sz="1800" dirty="0">
                <a:solidFill>
                  <a:srgbClr val="2A2F36"/>
                </a:solidFill>
                <a:latin typeface="Arial" pitchFamily="34" charset="0"/>
                <a:ea typeface="Arial" pitchFamily="34" charset="-122"/>
                <a:cs typeface="Arial" pitchFamily="34" charset="-120"/>
              </a:rPr>
              <a:t>Regulatory inquiry or civil-rights complaint</a:t>
            </a:r>
            <a:endParaRPr lang="en-US" sz="1800" dirty="0"/>
          </a:p>
        </p:txBody>
      </p:sp>
      <p:sp>
        <p:nvSpPr>
          <p:cNvPr id="19" name="Shape 17"/>
          <p:cNvSpPr/>
          <p:nvPr/>
        </p:nvSpPr>
        <p:spPr>
          <a:xfrm>
            <a:off x="952500" y="9343430"/>
            <a:ext cx="16383000" cy="9525"/>
          </a:xfrm>
          <a:prstGeom prst="rect">
            <a:avLst/>
          </a:prstGeom>
          <a:solidFill>
            <a:srgbClr val="C9C3B6"/>
          </a:solidFill>
          <a:ln/>
        </p:spPr>
        <p:txBody>
          <a:bodyPr/>
          <a:lstStyle/>
          <a:p>
            <a:endParaRPr lang="en-US"/>
          </a:p>
        </p:txBody>
      </p:sp>
      <p:sp>
        <p:nvSpPr>
          <p:cNvPr id="20" name="Text 18"/>
          <p:cNvSpPr/>
          <p:nvPr/>
        </p:nvSpPr>
        <p:spPr>
          <a:xfrm>
            <a:off x="952500" y="9559330"/>
            <a:ext cx="2022177"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GOVERNANCE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5" name="Text 3"/>
          <p:cNvSpPr/>
          <p:nvPr/>
        </p:nvSpPr>
        <p:spPr>
          <a:xfrm>
            <a:off x="952500" y="1413470"/>
            <a:ext cx="1687449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24" dirty="0">
                <a:solidFill>
                  <a:srgbClr val="B0361C"/>
                </a:solidFill>
                <a:latin typeface="Arial" pitchFamily="34" charset="0"/>
                <a:ea typeface="Arial" pitchFamily="34" charset="-122"/>
                <a:cs typeface="Arial" pitchFamily="34" charset="-120"/>
              </a:rPr>
              <a:t>FINAL RECOMMENDATION</a:t>
            </a:r>
            <a:endParaRPr lang="en-US" sz="1800" dirty="0"/>
          </a:p>
        </p:txBody>
      </p:sp>
      <p:sp>
        <p:nvSpPr>
          <p:cNvPr id="6" name="Text 4"/>
          <p:cNvSpPr/>
          <p:nvPr/>
        </p:nvSpPr>
        <p:spPr>
          <a:xfrm>
            <a:off x="952500" y="1893491"/>
            <a:ext cx="16874490" cy="67816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b="1" kern="0" spc="-96" dirty="0">
                <a:solidFill>
                  <a:srgbClr val="0E1116"/>
                </a:solidFill>
                <a:latin typeface="Arial" pitchFamily="34" charset="0"/>
                <a:ea typeface="Arial" pitchFamily="34" charset="-122"/>
                <a:cs typeface="Arial" pitchFamily="34" charset="-120"/>
              </a:rPr>
              <a:t>A justified model with documented risks</a:t>
            </a:r>
            <a:endParaRPr lang="en-US" sz="4800" dirty="0"/>
          </a:p>
        </p:txBody>
      </p:sp>
      <p:sp>
        <p:nvSpPr>
          <p:cNvPr id="7" name="Text 5"/>
          <p:cNvSpPr/>
          <p:nvPr/>
        </p:nvSpPr>
        <p:spPr>
          <a:xfrm>
            <a:off x="952500" y="2705001"/>
            <a:ext cx="14716125" cy="895350"/>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2700" dirty="0">
                <a:solidFill>
                  <a:srgbClr val="2A2F36"/>
                </a:solidFill>
                <a:latin typeface="Arial" pitchFamily="34" charset="0"/>
                <a:ea typeface="Arial" pitchFamily="34" charset="-122"/>
                <a:cs typeface="Arial" pitchFamily="34" charset="-120"/>
              </a:rPr>
              <a:t>Responsible ML is not about claiming perfection; it is about accountability, transparency, and control.</a:t>
            </a:r>
            <a:endParaRPr lang="en-US" sz="2700" dirty="0"/>
          </a:p>
        </p:txBody>
      </p:sp>
      <p:sp>
        <p:nvSpPr>
          <p:cNvPr id="8" name="Text 6"/>
          <p:cNvSpPr/>
          <p:nvPr/>
        </p:nvSpPr>
        <p:spPr>
          <a:xfrm>
            <a:off x="952500" y="3981351"/>
            <a:ext cx="8849297"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88" dirty="0">
                <a:solidFill>
                  <a:srgbClr val="B0361C"/>
                </a:solidFill>
                <a:latin typeface="Arial" pitchFamily="34" charset="0"/>
                <a:ea typeface="Arial" pitchFamily="34" charset="-122"/>
                <a:cs typeface="Arial" pitchFamily="34" charset="-120"/>
              </a:rPr>
              <a:t>APPROVE CONDITIONAL DEPLOYMENT ONLY IF:</a:t>
            </a:r>
            <a:endParaRPr lang="en-US" sz="1800" dirty="0"/>
          </a:p>
        </p:txBody>
      </p:sp>
      <p:sp>
        <p:nvSpPr>
          <p:cNvPr id="9" name="Shape 7"/>
          <p:cNvSpPr/>
          <p:nvPr/>
        </p:nvSpPr>
        <p:spPr>
          <a:xfrm>
            <a:off x="952500" y="5246192"/>
            <a:ext cx="8591550" cy="9525"/>
          </a:xfrm>
          <a:prstGeom prst="rect">
            <a:avLst/>
          </a:prstGeom>
          <a:solidFill>
            <a:srgbClr val="C9C3B6"/>
          </a:solidFill>
          <a:ln/>
        </p:spPr>
        <p:txBody>
          <a:bodyPr/>
          <a:lstStyle/>
          <a:p>
            <a:endParaRPr lang="en-US"/>
          </a:p>
        </p:txBody>
      </p:sp>
      <p:sp>
        <p:nvSpPr>
          <p:cNvPr id="10" name="Text 8"/>
          <p:cNvSpPr/>
          <p:nvPr/>
        </p:nvSpPr>
        <p:spPr>
          <a:xfrm>
            <a:off x="952500" y="4766171"/>
            <a:ext cx="45720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B0361C"/>
                </a:solidFill>
                <a:latin typeface="Arial" pitchFamily="34" charset="0"/>
                <a:ea typeface="Arial" pitchFamily="34" charset="-122"/>
                <a:cs typeface="Arial" pitchFamily="34" charset="-120"/>
              </a:rPr>
              <a:t>01</a:t>
            </a:r>
            <a:endParaRPr lang="en-US" sz="1800" dirty="0"/>
          </a:p>
        </p:txBody>
      </p:sp>
      <p:sp>
        <p:nvSpPr>
          <p:cNvPr id="11" name="Text 9"/>
          <p:cNvSpPr/>
          <p:nvPr/>
        </p:nvSpPr>
        <p:spPr>
          <a:xfrm>
            <a:off x="1485900" y="4709021"/>
            <a:ext cx="8299894" cy="403820"/>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950" dirty="0">
                <a:solidFill>
                  <a:srgbClr val="2A2F36"/>
                </a:solidFill>
                <a:latin typeface="Arial" pitchFamily="34" charset="0"/>
                <a:ea typeface="Arial" pitchFamily="34" charset="-122"/>
                <a:cs typeface="Arial" pitchFamily="34" charset="-120"/>
              </a:rPr>
              <a:t>Fairness-pass threshold is approved by risk/compliance</a:t>
            </a:r>
            <a:endParaRPr lang="en-US" sz="1950" dirty="0"/>
          </a:p>
        </p:txBody>
      </p:sp>
      <p:sp>
        <p:nvSpPr>
          <p:cNvPr id="12" name="Shape 10"/>
          <p:cNvSpPr/>
          <p:nvPr/>
        </p:nvSpPr>
        <p:spPr>
          <a:xfrm>
            <a:off x="952500" y="5961162"/>
            <a:ext cx="8591550" cy="9525"/>
          </a:xfrm>
          <a:prstGeom prst="rect">
            <a:avLst/>
          </a:prstGeom>
          <a:solidFill>
            <a:srgbClr val="C9C3B6"/>
          </a:solidFill>
          <a:ln/>
        </p:spPr>
        <p:txBody>
          <a:bodyPr/>
          <a:lstStyle/>
          <a:p>
            <a:endParaRPr lang="en-US"/>
          </a:p>
        </p:txBody>
      </p:sp>
      <p:sp>
        <p:nvSpPr>
          <p:cNvPr id="13" name="Text 11"/>
          <p:cNvSpPr/>
          <p:nvPr/>
        </p:nvSpPr>
        <p:spPr>
          <a:xfrm>
            <a:off x="952500" y="5481142"/>
            <a:ext cx="45720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B0361C"/>
                </a:solidFill>
                <a:latin typeface="Arial" pitchFamily="34" charset="0"/>
                <a:ea typeface="Arial" pitchFamily="34" charset="-122"/>
                <a:cs typeface="Arial" pitchFamily="34" charset="-120"/>
              </a:rPr>
              <a:t>02</a:t>
            </a:r>
            <a:endParaRPr lang="en-US" sz="1800" dirty="0"/>
          </a:p>
        </p:txBody>
      </p:sp>
      <p:sp>
        <p:nvSpPr>
          <p:cNvPr id="14" name="Text 12"/>
          <p:cNvSpPr/>
          <p:nvPr/>
        </p:nvSpPr>
        <p:spPr>
          <a:xfrm>
            <a:off x="1485900" y="5423992"/>
            <a:ext cx="8299894" cy="403820"/>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950" dirty="0">
                <a:solidFill>
                  <a:srgbClr val="2A2F36"/>
                </a:solidFill>
                <a:latin typeface="Arial" pitchFamily="34" charset="0"/>
                <a:ea typeface="Arial" pitchFamily="34" charset="-122"/>
                <a:cs typeface="Arial" pitchFamily="34" charset="-120"/>
              </a:rPr>
              <a:t>Monthly AIR monitoring and quarterly drift checks are active</a:t>
            </a:r>
            <a:endParaRPr lang="en-US" sz="1950" dirty="0"/>
          </a:p>
        </p:txBody>
      </p:sp>
      <p:sp>
        <p:nvSpPr>
          <p:cNvPr id="15" name="Shape 13"/>
          <p:cNvSpPr/>
          <p:nvPr/>
        </p:nvSpPr>
        <p:spPr>
          <a:xfrm>
            <a:off x="952500" y="6676132"/>
            <a:ext cx="8591550" cy="9525"/>
          </a:xfrm>
          <a:prstGeom prst="rect">
            <a:avLst/>
          </a:prstGeom>
          <a:solidFill>
            <a:srgbClr val="C9C3B6"/>
          </a:solidFill>
          <a:ln/>
        </p:spPr>
        <p:txBody>
          <a:bodyPr/>
          <a:lstStyle/>
          <a:p>
            <a:endParaRPr lang="en-US"/>
          </a:p>
        </p:txBody>
      </p:sp>
      <p:sp>
        <p:nvSpPr>
          <p:cNvPr id="16" name="Text 14"/>
          <p:cNvSpPr/>
          <p:nvPr/>
        </p:nvSpPr>
        <p:spPr>
          <a:xfrm>
            <a:off x="952500" y="6196112"/>
            <a:ext cx="45720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B0361C"/>
                </a:solidFill>
                <a:latin typeface="Arial" pitchFamily="34" charset="0"/>
                <a:ea typeface="Arial" pitchFamily="34" charset="-122"/>
                <a:cs typeface="Arial" pitchFamily="34" charset="-120"/>
              </a:rPr>
              <a:t>03</a:t>
            </a:r>
            <a:endParaRPr lang="en-US" sz="1800" dirty="0"/>
          </a:p>
        </p:txBody>
      </p:sp>
      <p:sp>
        <p:nvSpPr>
          <p:cNvPr id="17" name="Text 15"/>
          <p:cNvSpPr/>
          <p:nvPr/>
        </p:nvSpPr>
        <p:spPr>
          <a:xfrm>
            <a:off x="1485900" y="6138962"/>
            <a:ext cx="8299894" cy="403820"/>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950" dirty="0">
                <a:solidFill>
                  <a:srgbClr val="2A2F36"/>
                </a:solidFill>
                <a:latin typeface="Arial" pitchFamily="34" charset="0"/>
                <a:ea typeface="Arial" pitchFamily="34" charset="-122"/>
                <a:cs typeface="Arial" pitchFamily="34" charset="-120"/>
              </a:rPr>
              <a:t>Borderline denials receive human review</a:t>
            </a:r>
            <a:endParaRPr lang="en-US" sz="1950" dirty="0"/>
          </a:p>
        </p:txBody>
      </p:sp>
      <p:sp>
        <p:nvSpPr>
          <p:cNvPr id="18" name="Shape 16"/>
          <p:cNvSpPr/>
          <p:nvPr/>
        </p:nvSpPr>
        <p:spPr>
          <a:xfrm>
            <a:off x="952500" y="7391103"/>
            <a:ext cx="8591550" cy="9525"/>
          </a:xfrm>
          <a:prstGeom prst="rect">
            <a:avLst/>
          </a:prstGeom>
          <a:solidFill>
            <a:srgbClr val="C9C3B6"/>
          </a:solidFill>
          <a:ln/>
        </p:spPr>
        <p:txBody>
          <a:bodyPr/>
          <a:lstStyle/>
          <a:p>
            <a:endParaRPr lang="en-US"/>
          </a:p>
        </p:txBody>
      </p:sp>
      <p:sp>
        <p:nvSpPr>
          <p:cNvPr id="19" name="Text 17"/>
          <p:cNvSpPr/>
          <p:nvPr/>
        </p:nvSpPr>
        <p:spPr>
          <a:xfrm>
            <a:off x="952500" y="6911082"/>
            <a:ext cx="45720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B0361C"/>
                </a:solidFill>
                <a:latin typeface="Arial" pitchFamily="34" charset="0"/>
                <a:ea typeface="Arial" pitchFamily="34" charset="-122"/>
                <a:cs typeface="Arial" pitchFamily="34" charset="-120"/>
              </a:rPr>
              <a:t>04</a:t>
            </a:r>
            <a:endParaRPr lang="en-US" sz="1800" dirty="0"/>
          </a:p>
        </p:txBody>
      </p:sp>
      <p:sp>
        <p:nvSpPr>
          <p:cNvPr id="20" name="Text 18"/>
          <p:cNvSpPr/>
          <p:nvPr/>
        </p:nvSpPr>
        <p:spPr>
          <a:xfrm>
            <a:off x="1485900" y="6853932"/>
            <a:ext cx="8299894" cy="403820"/>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950" dirty="0">
                <a:solidFill>
                  <a:srgbClr val="2A2F36"/>
                </a:solidFill>
                <a:latin typeface="Arial" pitchFamily="34" charset="0"/>
                <a:ea typeface="Arial" pitchFamily="34" charset="-122"/>
                <a:cs typeface="Arial" pitchFamily="34" charset="-120"/>
              </a:rPr>
              <a:t>GitHub audit record is maintained and versioned</a:t>
            </a:r>
            <a:endParaRPr lang="en-US" sz="1950" dirty="0"/>
          </a:p>
        </p:txBody>
      </p:sp>
      <p:sp>
        <p:nvSpPr>
          <p:cNvPr id="21" name="Shape 19"/>
          <p:cNvSpPr/>
          <p:nvPr/>
        </p:nvSpPr>
        <p:spPr>
          <a:xfrm>
            <a:off x="952500" y="8106073"/>
            <a:ext cx="8591550" cy="9525"/>
          </a:xfrm>
          <a:prstGeom prst="rect">
            <a:avLst/>
          </a:prstGeom>
          <a:solidFill>
            <a:srgbClr val="C9C3B6"/>
          </a:solidFill>
          <a:ln/>
        </p:spPr>
        <p:txBody>
          <a:bodyPr/>
          <a:lstStyle/>
          <a:p>
            <a:endParaRPr lang="en-US"/>
          </a:p>
        </p:txBody>
      </p:sp>
      <p:sp>
        <p:nvSpPr>
          <p:cNvPr id="22" name="Text 20"/>
          <p:cNvSpPr/>
          <p:nvPr/>
        </p:nvSpPr>
        <p:spPr>
          <a:xfrm>
            <a:off x="952500" y="7626053"/>
            <a:ext cx="457200"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B0361C"/>
                </a:solidFill>
                <a:latin typeface="Arial" pitchFamily="34" charset="0"/>
                <a:ea typeface="Arial" pitchFamily="34" charset="-122"/>
                <a:cs typeface="Arial" pitchFamily="34" charset="-120"/>
              </a:rPr>
              <a:t>05</a:t>
            </a:r>
            <a:endParaRPr lang="en-US" sz="1800" dirty="0"/>
          </a:p>
        </p:txBody>
      </p:sp>
      <p:sp>
        <p:nvSpPr>
          <p:cNvPr id="23" name="Text 21"/>
          <p:cNvSpPr/>
          <p:nvPr/>
        </p:nvSpPr>
        <p:spPr>
          <a:xfrm>
            <a:off x="1485900" y="7568903"/>
            <a:ext cx="8299894" cy="403820"/>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950" dirty="0">
                <a:solidFill>
                  <a:srgbClr val="2A2F36"/>
                </a:solidFill>
                <a:latin typeface="Arial" pitchFamily="34" charset="0"/>
                <a:ea typeface="Arial" pitchFamily="34" charset="-122"/>
                <a:cs typeface="Arial" pitchFamily="34" charset="-120"/>
              </a:rPr>
              <a:t>Shutdown/retraining triggers are enforced</a:t>
            </a:r>
            <a:endParaRPr lang="en-US" sz="1950" dirty="0"/>
          </a:p>
        </p:txBody>
      </p:sp>
      <p:sp>
        <p:nvSpPr>
          <p:cNvPr id="24" name="Shape 22"/>
          <p:cNvSpPr/>
          <p:nvPr/>
        </p:nvSpPr>
        <p:spPr>
          <a:xfrm>
            <a:off x="10204450" y="3712171"/>
            <a:ext cx="7029450" cy="5079107"/>
          </a:xfrm>
          <a:prstGeom prst="rect">
            <a:avLst/>
          </a:prstGeom>
          <a:solidFill>
            <a:srgbClr val="0E1116"/>
          </a:solidFill>
          <a:ln/>
        </p:spPr>
        <p:txBody>
          <a:bodyPr/>
          <a:lstStyle/>
          <a:p>
            <a:endParaRPr lang="en-US"/>
          </a:p>
        </p:txBody>
      </p:sp>
      <p:sp>
        <p:nvSpPr>
          <p:cNvPr id="25" name="Text 23"/>
          <p:cNvSpPr/>
          <p:nvPr/>
        </p:nvSpPr>
        <p:spPr>
          <a:xfrm>
            <a:off x="10763250" y="4514751"/>
            <a:ext cx="6298502"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360" dirty="0">
                <a:solidFill>
                  <a:srgbClr val="E8C9C0"/>
                </a:solidFill>
                <a:latin typeface="Arial" pitchFamily="34" charset="0"/>
                <a:ea typeface="Arial" pitchFamily="34" charset="-122"/>
                <a:cs typeface="Arial" pitchFamily="34" charset="-120"/>
              </a:rPr>
              <a:t>VERDICT</a:t>
            </a:r>
            <a:endParaRPr lang="en-US" sz="1800" dirty="0"/>
          </a:p>
        </p:txBody>
      </p:sp>
      <p:sp>
        <p:nvSpPr>
          <p:cNvPr id="26" name="Text 24"/>
          <p:cNvSpPr/>
          <p:nvPr/>
        </p:nvSpPr>
        <p:spPr>
          <a:xfrm>
            <a:off x="10763250" y="5013821"/>
            <a:ext cx="5581650" cy="141347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5700" b="1" kern="0" spc="-114" dirty="0">
                <a:solidFill>
                  <a:srgbClr val="F6F4EE"/>
                </a:solidFill>
                <a:latin typeface="Arial" pitchFamily="34" charset="0"/>
                <a:ea typeface="Arial" pitchFamily="34" charset="-122"/>
                <a:cs typeface="Arial" pitchFamily="34" charset="-120"/>
              </a:rPr>
              <a:t>Deploy with conditions</a:t>
            </a:r>
            <a:endParaRPr lang="en-US" sz="5700" dirty="0"/>
          </a:p>
        </p:txBody>
      </p:sp>
      <p:sp>
        <p:nvSpPr>
          <p:cNvPr id="27" name="Text 25"/>
          <p:cNvSpPr/>
          <p:nvPr/>
        </p:nvSpPr>
        <p:spPr>
          <a:xfrm>
            <a:off x="10763250" y="6655891"/>
            <a:ext cx="4667250" cy="678061"/>
          </a:xfrm>
          <a:prstGeom prst="rect">
            <a:avLst/>
          </a:prstGeom>
          <a:noFill/>
          <a:ln/>
        </p:spPr>
        <p:txBody>
          <a:bodyPr wrap="square" lIns="25400" tIns="25400" rIns="25400" bIns="25400" rtlCol="0" anchor="t">
            <a:noAutofit/>
          </a:bodyPr>
          <a:lstStyle/>
          <a:p>
            <a:pPr marL="0" indent="0" algn="l">
              <a:lnSpc>
                <a:spcPct val="140000"/>
              </a:lnSpc>
              <a:buNone/>
            </a:pPr>
            <a:r>
              <a:rPr lang="en-US" sz="2000" dirty="0">
                <a:solidFill>
                  <a:srgbClr val="F6F4EE">
                    <a:alpha val="75000"/>
                  </a:srgbClr>
                </a:solidFill>
                <a:latin typeface="Arial" pitchFamily="34" charset="0"/>
                <a:ea typeface="Arial" pitchFamily="34" charset="-122"/>
                <a:cs typeface="Arial" pitchFamily="34" charset="-120"/>
              </a:rPr>
              <a:t>Pull if fairness, drift, performance, or regulatory triggers are breached.</a:t>
            </a:r>
            <a:endParaRPr lang="en-US" sz="2000" dirty="0"/>
          </a:p>
        </p:txBody>
      </p:sp>
      <p:sp>
        <p:nvSpPr>
          <p:cNvPr id="30" name="Shape 28"/>
          <p:cNvSpPr/>
          <p:nvPr/>
        </p:nvSpPr>
        <p:spPr>
          <a:xfrm>
            <a:off x="952500" y="9343430"/>
            <a:ext cx="16383000" cy="9525"/>
          </a:xfrm>
          <a:prstGeom prst="rect">
            <a:avLst/>
          </a:prstGeom>
          <a:solidFill>
            <a:srgbClr val="C9C3B6"/>
          </a:solidFill>
          <a:ln/>
        </p:spPr>
        <p:txBody>
          <a:bodyPr/>
          <a:lstStyle/>
          <a:p>
            <a:endParaRPr lang="en-US"/>
          </a:p>
        </p:txBody>
      </p:sp>
      <p:sp>
        <p:nvSpPr>
          <p:cNvPr id="31" name="Text 29"/>
          <p:cNvSpPr/>
          <p:nvPr/>
        </p:nvSpPr>
        <p:spPr>
          <a:xfrm>
            <a:off x="952500" y="9559330"/>
            <a:ext cx="3655015" cy="346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252" dirty="0">
                <a:solidFill>
                  <a:srgbClr val="5C636E"/>
                </a:solidFill>
                <a:latin typeface="Arial" pitchFamily="34" charset="0"/>
                <a:ea typeface="Arial" pitchFamily="34" charset="-122"/>
                <a:cs typeface="Arial" pitchFamily="34" charset="-120"/>
              </a:rPr>
              <a:t>FINAL RECOMMENDATION</a:t>
            </a:r>
            <a:endParaRPr lang="en-US" sz="1800" dirty="0"/>
          </a:p>
        </p:txBody>
      </p:sp>
      <p:pic>
        <p:nvPicPr>
          <p:cNvPr id="38" name="Picture 37" descr="The image shows a QR code, which is a two-dimensional barcode that can be scanned using a smartphone or tablet to provide access to information or a website.&#10;&#10;AI-generated content may be incorrect.">
            <a:extLst>
              <a:ext uri="{FF2B5EF4-FFF2-40B4-BE49-F238E27FC236}">
                <a16:creationId xmlns:a16="http://schemas.microsoft.com/office/drawing/2014/main" id="{8169ABD7-6AF6-3721-DA76-A9F78DBA61A1}"/>
              </a:ext>
            </a:extLst>
          </p:cNvPr>
          <p:cNvPicPr>
            <a:picLocks noChangeAspect="1"/>
          </p:cNvPicPr>
          <p:nvPr/>
        </p:nvPicPr>
        <p:blipFill>
          <a:blip r:embed="rId3"/>
          <a:stretch>
            <a:fillRect/>
          </a:stretch>
        </p:blipFill>
        <p:spPr>
          <a:xfrm>
            <a:off x="16272991" y="144091"/>
            <a:ext cx="1921818" cy="19218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1572</Words>
  <Application>Microsoft Office PowerPoint</Application>
  <PresentationFormat>Custom</PresentationFormat>
  <Paragraphs>296</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Arslan, Yusuf Ozdemir</cp:lastModifiedBy>
  <cp:revision>9</cp:revision>
  <dcterms:created xsi:type="dcterms:W3CDTF">2026-05-07T00:14:58Z</dcterms:created>
  <dcterms:modified xsi:type="dcterms:W3CDTF">2026-05-07T00:52:30Z</dcterms:modified>
</cp:coreProperties>
</file>