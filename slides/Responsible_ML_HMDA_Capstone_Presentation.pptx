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68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4"/>
    <p:restoredTop sz="94637"/>
  </p:normalViewPr>
  <p:slideViewPr>
    <p:cSldViewPr snapToGrid="0" snapToObjects="1">
      <p:cViewPr varScale="1">
        <p:scale>
          <a:sx n="149" d="100"/>
          <a:sy n="149" d="100"/>
        </p:scale>
        <p:origin x="15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17D02F-B8F4-9847-83B5-AE0F63E3CAA1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4CC10-42E8-8440-A205-9664B7BF7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67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Introduce the project as a Responsible Machine Learning audit for HMDA mortgage lending. Explain that the presentation evaluates predictive performance and fairness implications aligned with the DNSC 6330 rubric.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4CC10-42E8-8440-A205-9664B7BF7D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226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Walk judges through the presentation structure following the rubric sequence: Objective, Failure Modes, Subgroup Errors, Mitigation, and Deployment Defensibility.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4CC10-42E8-8440-A205-9664B7BF7D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985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Focus on explaining why responsible AI matters in mortgage lending and the real-world consequences of biased decisions.</a:t>
            </a:r>
            <a:r>
              <a:rPr lang="en-US" dirty="0"/>
              <a:t> Explain how mortgage lending decisions influence wealth creation and financial inclusion. Discuss the risk of automated bias amplification in lending systems.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Explain precision-recall trade-offs in plain language. Mention that false denials can delay or prevent home ownership.</a:t>
            </a:r>
            <a:r>
              <a:rPr lang="en-US" dirty="0"/>
              <a:t> Discuss why accuracy alone is insufficient in mortgage lending. Explain fairness-performance tradeoffs and threshold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Explain that GBM achieved stronger ROC-AUC and PR-AUC performance than Logistic Regression. Mention that predictive strength does not guarantee fairness.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4CC10-42E8-8440-A205-9664B7BF7D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3516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Discuss false positives and false negatives in mortgage lending. Highlight the harm caused by false denials to qualified applicants.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4CC10-42E8-8440-A205-9664B7BF7D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207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Connect failure modes to affected communities and explain harms in human terms.</a:t>
            </a:r>
            <a:r>
              <a:rPr lang="en-US" dirty="0"/>
              <a:t> Describe failure modes including disparate impact, proxy discrimination, and threshold sensitivity.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Define AIR in plain language and explain the four-fifths rule. AIR below 0.80 indicates potential disparate impact.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4CC10-42E8-8440-A205-9664B7BF7D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4313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Discuss subgroup disparities in false positive and false negative rates. Explain multidimensional fairness concepts.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4CC10-42E8-8440-A205-9664B7BF7D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226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Describe threshold adjustment mitigation and explain before-versus-after fairness improvement.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4CC10-42E8-8440-A205-9664B7BF7D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2856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Do not claim the model is perfectly fair. Emphasize transparency and monitoring.</a:t>
            </a:r>
            <a:r>
              <a:rPr lang="en-US" dirty="0"/>
              <a:t> Explain that no ML system is risk-free. Discuss residual risks including proxy bias and data drift.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Answer the fintech founder question: what breaks first and how would we know?</a:t>
            </a:r>
            <a:r>
              <a:rPr lang="en-US" dirty="0"/>
              <a:t> Recommend deployment with governance controls and continuous fairness monitoring.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Summarize final deployment recommendation emphasizing transparency and accountability.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4CC10-42E8-8440-A205-9664B7BF7D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0469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Invite questions and reference the GitHub repository as the reproducible audit artifact.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4CC10-42E8-8440-A205-9664B7BF7D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343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Tailor messaging to the nonprofit CEO, civil rights counsel, and fintech founder.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4CC10-42E8-8440-A205-9664B7BF7DF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06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Responsible Machine Learning Audit for Home Mortgage Lending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</a:defRPr>
            </a:pPr>
            <a:r>
              <a:t>DNSC 6330 Capstone Presentation</a:t>
            </a:r>
          </a:p>
          <a:p>
            <a:r>
              <a:t>George Washington University School of Business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2D4E"/>
                </a:solidFill>
              </a:defRPr>
            </a:pPr>
            <a:r>
              <a:t>Presentation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r>
              <a:t>1. Problem Overview and Business Context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2. Model Objective and Optimization Strategy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3. Failure Modes and Harm Analysis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4. Subgroup Fairness Evaluation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5. Bias Mitigation and Residual Risks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6. Deployment Defensibility and Governance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7. Final 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2D4E"/>
                </a:solidFill>
              </a:defRPr>
            </a:pPr>
            <a:r>
              <a:t>Business Problem and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r>
              <a:t>Mortgage lending decisions impact access to home ownership, wealth creation, and financial inclusion.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The project evaluates a Home Mortgage Disclosure Act (HMDA) lending model using Responsible Machine Learning principles.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Objective: build a predictive model that balances predictive performance with fairness and regulatory compliance.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The analysis focuses on disparate impact across race and sex protected groups.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2D4E"/>
                </a:solidFill>
              </a:defRPr>
            </a:pPr>
            <a:r>
              <a:t>Q1 — Optimization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r>
              <a:t>Primary goal: predict mortgage approval outcomes while minimizing discriminatory impact.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Gradient Boosting Machine (GBM) selected as primary model due to superior predictive performance.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Threshold optimization performed to balance recall, precision, and fairness outcomes.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Trade-off acknowledged: improving fairness may reduce raw predictive efficiency.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2D4E"/>
                </a:solidFill>
              </a:defRPr>
            </a:pPr>
            <a:r>
              <a:t>Model Performance Evaluation</a:t>
            </a:r>
          </a:p>
        </p:txBody>
      </p:sp>
      <p:pic>
        <p:nvPicPr>
          <p:cNvPr id="3" name="Picture 2" descr="roc_pr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71438"/>
            <a:ext cx="7974687" cy="30281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755974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26547C"/>
                </a:solidFill>
              </a:defRPr>
            </a:pPr>
            <a:r>
              <a:rPr dirty="0"/>
              <a:t>GBM outperformed Logistic Regression across ROC-AUC and Precision-Recall metrics, demonstrating stronger classification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112D4E"/>
                </a:solidFill>
              </a:defRPr>
            </a:pPr>
            <a:r>
              <a:t>Classification Outcomes — Confusion Matrix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353" y="1756651"/>
            <a:ext cx="4047815" cy="3756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734709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26547C"/>
                </a:solidFill>
              </a:defRPr>
            </a:pPr>
            <a:r>
              <a:rPr dirty="0"/>
              <a:t>The confusion matrix highlights approval and denial prediction patterns. False denials remain a critical business and ethical concern.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2D4E"/>
                </a:solidFill>
              </a:defRPr>
            </a:pPr>
            <a:r>
              <a:t>Q2 — Known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r>
              <a:t>Failure Mode 1: Disparate impact across racial groups, especially underrepresented applicants.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Failure Mode 2: Threshold sensitivity causing unequal approval outcomes across demographic groups.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Failure Mode 3: Geographic and socioeconomic proxy variables may indirectly encode historical inequities.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Potential harms include delayed home ownership, reduced financial mobility, and unequal lending access.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2D4E"/>
                </a:solidFill>
              </a:defRPr>
            </a:pPr>
            <a:r>
              <a:t>Subgroup Fairness Analysis — AIR</a:t>
            </a:r>
          </a:p>
        </p:txBody>
      </p:sp>
      <p:pic>
        <p:nvPicPr>
          <p:cNvPr id="3" name="Picture 2" descr="audit_air_disparate_i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15" y="2109008"/>
            <a:ext cx="8010569" cy="28240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07394"/>
            <a:ext cx="801056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26547C"/>
                </a:solidFill>
              </a:defRPr>
            </a:pPr>
            <a:r>
              <a:t>Adverse Impact Ratio (AIR) analysis identified protected groups below the 80% four-fifths regulatory threshold.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112D4E"/>
                </a:solidFill>
              </a:defRPr>
            </a:pPr>
            <a:r>
              <a:t>Error Rate Disparities Across Risk Tiers</a:t>
            </a:r>
          </a:p>
        </p:txBody>
      </p:sp>
      <p:pic>
        <p:nvPicPr>
          <p:cNvPr id="3" name="Picture 2" descr="audit_error_rates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8156"/>
            <a:ext cx="7627797" cy="26555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18028"/>
            <a:ext cx="799568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26547C"/>
                </a:solidFill>
              </a:defRPr>
            </a:pPr>
            <a:r>
              <a:rPr dirty="0"/>
              <a:t>False positive and false negative disparities reveal unequal model behavior across racial subgroups.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2D4E"/>
                </a:solidFill>
              </a:defRPr>
            </a:pPr>
            <a:r>
              <a:t>Bias Mitigation Strategy</a:t>
            </a:r>
          </a:p>
        </p:txBody>
      </p:sp>
      <p:pic>
        <p:nvPicPr>
          <p:cNvPr id="3" name="Picture 2" descr="audit_before_after_mitig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57523"/>
            <a:ext cx="7914876" cy="33429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75498"/>
            <a:ext cx="810200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26547C"/>
                </a:solidFill>
              </a:defRPr>
            </a:pPr>
            <a:r>
              <a:t>Threshold adjustment improved subgroup AIR metrics above the four-fifths threshold for previously affected groups.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112D4E"/>
                </a:solidFill>
              </a:defRPr>
            </a:pPr>
            <a:r>
              <a:t>Q4 — Residual Risks After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r>
              <a:rPr dirty="0"/>
              <a:t>Although fairness metrics improved, residual disparities may still emerge post-deployment.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rPr dirty="0"/>
              <a:t>Proxy variables and evolving economic conditions may introduce new forms of bias.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rPr dirty="0"/>
              <a:t>Threshold adjustment improves fairness but may increase operational lending risk.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rPr dirty="0"/>
              <a:t>Continuous monitoring and periodic audits are required.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2D4E"/>
                </a:solidFill>
              </a:defRPr>
            </a:pPr>
            <a:r>
              <a:t>Q5 — Deployment Defensibility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r>
              <a:t>Recommendation: Deploy with conditions and continuous fairness monitoring.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Mandatory governance controls should include quarterly AIR reviews and drift detection.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Deployment should trigger re-evaluation if AIR drops below 0.80 or model drift exceeds acceptable thresholds.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GitHub repository serves as the reproducible audit and governance artifact.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2D4E"/>
                </a:solidFill>
              </a:defRPr>
            </a:pPr>
            <a:r>
              <a:t>Final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r>
              <a:rPr dirty="0"/>
              <a:t>The model demonstrates strong predictive capability with improved fairness after mitigation.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rPr dirty="0"/>
              <a:t>Deployment is recommended only with governance controls and ongoing fairness audits.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rPr dirty="0"/>
              <a:t>Residual risks must remain transparent and continuously monitored.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rPr dirty="0"/>
              <a:t>Responsible ML is not about creating a perfect model — it is about creating a justified and accountable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</a:defRPr>
            </a:pPr>
            <a:r>
              <a:t>Thank you</a:t>
            </a:r>
          </a:p>
          <a:p>
            <a:r>
              <a:t>Responsible Machine Learning in Mortgage Lending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Supporting Responsible Machine Learning Concepts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112D4E"/>
                </a:solidFill>
              </a:defRPr>
            </a:pPr>
            <a:r>
              <a:t>Presentation Strategy for the Judges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r>
              <a:t>Nonprofit CEO: emphasize community impact, fairness, and real borrower consequences.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Civil Rights Counsel: focus on AIR metrics, four-fifths rule, and regulatory interpretation.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Fintech Founder: explain operational risks, monitoring plans, and deployment governance.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Avoid jargon without explanation and connect every technical metric to human impact.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112D4E"/>
                </a:solidFill>
              </a:defRPr>
            </a:pPr>
            <a:r>
              <a:t>Appendix A — Key Fairness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Adverse Impact Ratio (AIR) compares approval rates between groups.</a:t>
            </a:r>
          </a:p>
          <a:p>
            <a:pPr>
              <a:defRPr sz="1800"/>
            </a:pPr>
            <a:r>
              <a:t>Four-Fifths Rule flags AIR below 0.80 as potential disparate impact.</a:t>
            </a:r>
          </a:p>
          <a:p>
            <a:pPr>
              <a:defRPr sz="1800"/>
            </a:pPr>
            <a:r>
              <a:t>False Negative Rate measures qualified applicants incorrectly denied.</a:t>
            </a:r>
          </a:p>
          <a:p>
            <a:pPr>
              <a:defRPr sz="1800"/>
            </a:pPr>
            <a:r>
              <a:t>Equal Opportunity evaluates fairness in true positive outcomes.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112D4E"/>
                </a:solidFill>
              </a:defRPr>
            </a:pPr>
            <a:r>
              <a:t>Appendix B — Governance and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Population Stability Index (PSI) monitors data drift over time.</a:t>
            </a:r>
          </a:p>
          <a:p>
            <a:pPr>
              <a:defRPr sz="1800"/>
            </a:pPr>
            <a:r>
              <a:t>Quarterly fairness reviews should evaluate subgroup AIR metrics.</a:t>
            </a:r>
          </a:p>
          <a:p>
            <a:pPr>
              <a:defRPr sz="1800"/>
            </a:pPr>
            <a:r>
              <a:t>Human review is recommended for borderline mortgage denials.</a:t>
            </a:r>
          </a:p>
          <a:p>
            <a:pPr>
              <a:defRPr sz="1800"/>
            </a:pPr>
            <a:r>
              <a:t>GitHub repositories provide reproducible governance artifacts.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112D4E"/>
                </a:solidFill>
              </a:defRPr>
            </a:pPr>
            <a:r>
              <a:t>Appendix C — Regulatory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Equal Credit Opportunity Act (ECOA) prohibits discriminatory lending.</a:t>
            </a:r>
          </a:p>
          <a:p>
            <a:pPr>
              <a:defRPr sz="1800"/>
            </a:pPr>
            <a:r>
              <a:t>Fair Housing Act protects against housing-related discrimination.</a:t>
            </a:r>
          </a:p>
          <a:p>
            <a:pPr>
              <a:defRPr sz="1800"/>
            </a:pPr>
            <a:r>
              <a:t>Responsible AI requires transparency, explainability, and accountability.</a:t>
            </a:r>
          </a:p>
          <a:p>
            <a:pPr>
              <a:defRPr sz="1800"/>
            </a:pPr>
            <a:r>
              <a:t>Fair lending models must balance business efficiency with equity.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112D4E"/>
                </a:solidFill>
              </a:defRPr>
            </a:pPr>
            <a:r>
              <a:t>Appendix D — Technical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Gradient Boosting Machine (GBM) achieved the strongest predictive performance.</a:t>
            </a:r>
          </a:p>
          <a:p>
            <a:pPr>
              <a:defRPr sz="1800"/>
            </a:pPr>
            <a:r>
              <a:t>Threshold optimization improved subgroup fairness metrics.</a:t>
            </a:r>
          </a:p>
          <a:p>
            <a:pPr>
              <a:defRPr sz="1800"/>
            </a:pPr>
            <a:r>
              <a:t>Fairness metrics were evaluated across race and sex groups.</a:t>
            </a:r>
          </a:p>
          <a:p>
            <a:pPr>
              <a:defRPr sz="1800"/>
            </a:pPr>
            <a:r>
              <a:t>Continuous monitoring is necessary after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1118</Words>
  <Application>Microsoft Macintosh PowerPoint</Application>
  <PresentationFormat>On-screen Show (4:3)</PresentationFormat>
  <Paragraphs>106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Responsible Machine Learning Audit for Home Mortgage Lending</vt:lpstr>
      <vt:lpstr>Presentation Agenda</vt:lpstr>
      <vt:lpstr>Business Problem and Context</vt:lpstr>
      <vt:lpstr>Q1 — Optimization Objective</vt:lpstr>
      <vt:lpstr>Model Performance Evaluation</vt:lpstr>
      <vt:lpstr>Classification Outcomes — Confusion Matrix</vt:lpstr>
      <vt:lpstr>Q2 — Known Failure Modes</vt:lpstr>
      <vt:lpstr>Subgroup Fairness Analysis — AIR</vt:lpstr>
      <vt:lpstr>Error Rate Disparities Across Risk Tiers</vt:lpstr>
      <vt:lpstr>Bias Mitigation Strategy</vt:lpstr>
      <vt:lpstr>Q4 — Residual Risks After Mitigation</vt:lpstr>
      <vt:lpstr>Q5 — Deployment Defensibility</vt:lpstr>
      <vt:lpstr>Final Recommendation</vt:lpstr>
      <vt:lpstr>Questions &amp; Discussion</vt:lpstr>
      <vt:lpstr>Appendix</vt:lpstr>
      <vt:lpstr>Presentation Strategy for the Judges</vt:lpstr>
      <vt:lpstr>Appendix A — Key Fairness Concepts</vt:lpstr>
      <vt:lpstr>Appendix B — Governance and Monitoring</vt:lpstr>
      <vt:lpstr>Appendix C — Regulatory Context</vt:lpstr>
      <vt:lpstr>Appendix D — Technical Concepts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Ajayi, Ola</cp:lastModifiedBy>
  <cp:revision>4</cp:revision>
  <dcterms:created xsi:type="dcterms:W3CDTF">2013-01-27T09:14:16Z</dcterms:created>
  <dcterms:modified xsi:type="dcterms:W3CDTF">2026-05-06T12:25:03Z</dcterms:modified>
  <cp:category/>
</cp:coreProperties>
</file>