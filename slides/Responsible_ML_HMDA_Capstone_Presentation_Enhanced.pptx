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mortgage lending decisions influence wealth creation and financial inclusion. Discuss the risk of automated bias amplification in lending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why accuracy alone is insufficient in mortgage lending. Explain fairness-performance tradeoffs and threshold optimization.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failure modes including disparate impact, proxy discrimination, and threshold sensitivity.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no ML system is risk-free. Discuss residual risks including proxy bias and data drift.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 deployment with governance controls and continuous fairness monitoring.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project as a Responsible Machine Learning audit for HMDA mortgage lending. Explain that the presentation evaluates predictive performance and fairness implications aligned with the DNSC 6330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judges through the presentation structure following the rubric sequence: Objective, Failure Modes, Subgroup Errors, Mitigation, and Deployment Defensibility.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GBM achieved stronger ROC-AUC and PR-AUC performance than Logistic Regression. Mention that predictive strength does not guarantee fairness.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false positives and false negatives in mortgage lending. Highlight the harm caused by false denials to qualified applicants.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AIR in plain language and explain the four-fifths rule. AIR below 0.80 indicates potential disparate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subgroup disparities in false positive and false negative rates. Explain multidimensional fairness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threshold adjustment mitigation and explain before-versus-after fairness improvement.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Tailor messaging to the nonprofit CEO, civil rights counsel, and fintech founder.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final deployment recommendation emphasizing transparency and accountability.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Invite questions and reference the GitHub repository as the reproducible audit artifact.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D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Responsible Machine Learning Audit for Home Mortgage Lending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</a:defRPr>
            </a:pPr>
            <a:r>
              <a:t>DNSC 6330 Capstone Presentation</a:t>
            </a:r>
          </a:p>
          <a:p>
            <a:r>
              <a:t>George Washington University School of Business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12D4E"/>
                </a:solidFill>
              </a:defRPr>
            </a:pPr>
            <a:r>
              <a:t>Presentation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E1E1E"/>
                </a:solidFill>
              </a:defRPr>
            </a:pPr>
            <a:r>
              <a:t>1. Problem Overview and Business Context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2. Model Objective and Optimization Strategy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3. Failure Modes and Harm Analysis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4. Subgroup Fairness Evaluation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5. Bias Mitigation and Residual Risks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6. Deployment Defensibility and Governance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7. Final Recommendation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12D4E"/>
                </a:solidFill>
              </a:defRPr>
            </a:pPr>
            <a:r>
              <a:t>Business Problem and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E1E1E"/>
                </a:solidFill>
              </a:defRPr>
            </a:pPr>
            <a:r>
              <a:t>Mortgage lending decisions impact access to home ownership, wealth creation, and financial inclusion.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The project evaluates a Home Mortgage Disclosure Act (HMDA) lending model using Responsible Machine Learning principles.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Objective: build a predictive model that balances predictive performance with fairness and regulatory compliance.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The analysis focuses on disparate impact across race and sex protected groups.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12D4E"/>
                </a:solidFill>
              </a:defRPr>
            </a:pPr>
            <a:r>
              <a:t>Q1 — Optimization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E1E1E"/>
                </a:solidFill>
              </a:defRPr>
            </a:pPr>
            <a:r>
              <a:t>Primary goal: predict mortgage approval outcomes while minimizing discriminatory impact.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Gradient Boosting Machine (GBM) selected as primary model due to superior predictive performance.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Threshold optimization performed to balance recall, precision, and fairness outcomes.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Trade-off acknowledged: improving fairness may reduce raw predictive efficiency.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12D4E"/>
                </a:solidFill>
              </a:defRPr>
            </a:pPr>
            <a:r>
              <a:t>Model Performance Evaluation</a:t>
            </a:r>
          </a:p>
        </p:txBody>
      </p:sp>
      <p:pic>
        <p:nvPicPr>
          <p:cNvPr id="3" name="Picture 2" descr="roc_pr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0789920" cy="40971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52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26547C"/>
                </a:solidFill>
              </a:defRPr>
            </a:pPr>
            <a:r>
              <a:t>GBM outperformed Logistic Regression across ROC-AUC and Precision-Recall metrics, demonstrating stronger classification performance.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12D4E"/>
                </a:solidFill>
              </a:defRPr>
            </a:pPr>
            <a:r>
              <a:t>Classification Outcomes — Confusion Matrix</a:t>
            </a:r>
          </a:p>
        </p:txBody>
      </p:sp>
      <p:pic>
        <p:nvPicPr>
          <p:cNvPr id="3" name="Picture 2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0789920" cy="100133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52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26547C"/>
                </a:solidFill>
              </a:defRPr>
            </a:pPr>
            <a:r>
              <a:t>The confusion matrix highlights approval and denial prediction patterns. False denials remain a critical business and ethical concern.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12D4E"/>
                </a:solidFill>
              </a:defRPr>
            </a:pPr>
            <a:r>
              <a:t>Q2 — Known Failure Modes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E1E1E"/>
                </a:solidFill>
              </a:defRPr>
            </a:pPr>
            <a:r>
              <a:t>Failure Mode 1: Disparate impact across racial groups, especially underrepresented applicants.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Failure Mode 2: Threshold sensitivity causing unequal approval outcomes across demographic groups.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Failure Mode 3: Geographic and socioeconomic proxy variables may indirectly encode historical inequities.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Potential harms include delayed home ownership, reduced financial mobility, and unequal lending access.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12D4E"/>
                </a:solidFill>
              </a:defRPr>
            </a:pPr>
            <a:r>
              <a:t>Subgroup Fairness Analysis — AIR</a:t>
            </a:r>
          </a:p>
        </p:txBody>
      </p:sp>
      <p:pic>
        <p:nvPicPr>
          <p:cNvPr id="3" name="Picture 2" descr="audit_air_disparate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0789920" cy="38038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52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26547C"/>
                </a:solidFill>
              </a:defRPr>
            </a:pPr>
            <a:r>
              <a:t>Adverse Impact Ratio (AIR) analysis identified protected groups below the 80% four-fifths regulatory threshold.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12D4E"/>
                </a:solidFill>
              </a:defRPr>
            </a:pPr>
            <a:r>
              <a:t>Error Rate Disparities Across Risk Tiers</a:t>
            </a:r>
          </a:p>
        </p:txBody>
      </p:sp>
      <p:pic>
        <p:nvPicPr>
          <p:cNvPr id="3" name="Picture 2" descr="audit_error_rates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0789920" cy="37564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52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26547C"/>
                </a:solidFill>
              </a:defRPr>
            </a:pPr>
            <a:r>
              <a:t>False positive and false negative disparities reveal unequal model behavior across racial subgroups.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12D4E"/>
                </a:solidFill>
              </a:defRPr>
            </a:pPr>
            <a:r>
              <a:t>Bias Mitigation Strategy</a:t>
            </a:r>
          </a:p>
        </p:txBody>
      </p:sp>
      <p:pic>
        <p:nvPicPr>
          <p:cNvPr id="3" name="Picture 2" descr="audit_before_after_mitig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0789920" cy="455726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52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26547C"/>
                </a:solidFill>
              </a:defRPr>
            </a:pPr>
            <a:r>
              <a:t>Threshold adjustment improved subgroup AIR metrics above the four-fifths threshold for previously affected groups.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12D4E"/>
                </a:solidFill>
              </a:defRPr>
            </a:pPr>
            <a:r>
              <a:t>Q4 — Residual Risks After 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E1E1E"/>
                </a:solidFill>
              </a:defRPr>
            </a:pPr>
            <a:r>
              <a:t>Although fairness metrics improved, residual disparities may still emerge post-deployment.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Proxy variables and evolving economic conditions may introduce new forms of bias.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Threshold adjustment improves fairness but may increase operational lending risk.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Continuous monitoring and periodic audits are required.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12D4E"/>
                </a:solidFill>
              </a:defRPr>
            </a:pPr>
            <a:r>
              <a:t>Q5 — Deployment Defensibility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E1E1E"/>
                </a:solidFill>
              </a:defRPr>
            </a:pPr>
            <a:r>
              <a:t>Recommendation: Deploy with conditions and continuous fairness monitoring.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Mandatory governance controls should include quarterly AIR reviews and drift detection.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Deployment should trigger re-evaluation if AIR drops below 0.80 or model drift exceeds acceptable thresholds.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GitHub repository serves as the reproducible audit and governance artifact.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12D4E"/>
                </a:solidFill>
              </a:defRPr>
            </a:pPr>
            <a:r>
              <a:t>Presentation Strategy for the Judges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E1E1E"/>
                </a:solidFill>
              </a:defRPr>
            </a:pPr>
            <a:r>
              <a:t>Nonprofit CEO: emphasize community impact, fairness, and real borrower consequences.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Civil Rights Counsel: focus on AIR metrics, four-fifths rule, and regulatory interpretation.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Fintech Founder: explain operational risks, monitoring plans, and deployment governance.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Avoid jargon without explanation and connect every technical metric to human impact.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12D4E"/>
                </a:solidFill>
              </a:defRPr>
            </a:pPr>
            <a:r>
              <a:t>Final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E1E1E"/>
                </a:solidFill>
              </a:defRPr>
            </a:pPr>
            <a:r>
              <a:t>The model demonstrates strong predictive capability with improved fairness after mitigation.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Deployment is recommended only with governance controls and ongoing fairness audits.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Residual risks must remain transparent and continuously monitored.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Responsible ML is not about creating a perfect model — it is about creating a justified and accountable model.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D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</a:defRPr>
            </a:pPr>
            <a:r>
              <a:t>Thank you</a:t>
            </a:r>
          </a:p>
          <a:p>
            <a:r>
              <a:t>Responsible Machine Learning in Mortgage Lending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Appendix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Supporting Responsible Machine Learning Concepts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112D4E"/>
                </a:solidFill>
              </a:defRPr>
            </a:pPr>
            <a:r>
              <a:t>Appendix A — Key Fairness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Adverse Impact Ratio (AIR) compares approval rates between groups.</a:t>
            </a:r>
          </a:p>
          <a:p>
            <a:pPr>
              <a:defRPr sz="1800"/>
            </a:pPr>
            <a:r>
              <a:t>Four-Fifths Rule flags AIR below 0.80 as potential disparate impact.</a:t>
            </a:r>
          </a:p>
          <a:p>
            <a:pPr>
              <a:defRPr sz="1800"/>
            </a:pPr>
            <a:r>
              <a:t>False Negative Rate measures qualified applicants incorrectly denied.</a:t>
            </a:r>
          </a:p>
          <a:p>
            <a:pPr>
              <a:defRPr sz="1800"/>
            </a:pPr>
            <a:r>
              <a:t>Equal Opportunity evaluates fairness in true positive outcomes.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112D4E"/>
                </a:solidFill>
              </a:defRPr>
            </a:pPr>
            <a:r>
              <a:t>Appendix B — Governance and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Population Stability Index (PSI) monitors data drift over time.</a:t>
            </a:r>
          </a:p>
          <a:p>
            <a:pPr>
              <a:defRPr sz="1800"/>
            </a:pPr>
            <a:r>
              <a:t>Quarterly fairness reviews should evaluate subgroup AIR metrics.</a:t>
            </a:r>
          </a:p>
          <a:p>
            <a:pPr>
              <a:defRPr sz="1800"/>
            </a:pPr>
            <a:r>
              <a:t>Human review is recommended for borderline mortgage denials.</a:t>
            </a:r>
          </a:p>
          <a:p>
            <a:pPr>
              <a:defRPr sz="1800"/>
            </a:pPr>
            <a:r>
              <a:t>GitHub repositories provide reproducible governance artifacts.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112D4E"/>
                </a:solidFill>
              </a:defRPr>
            </a:pPr>
            <a:r>
              <a:t>Appendix C — Regulatory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Equal Credit Opportunity Act (ECOA) prohibits discriminatory lending.</a:t>
            </a:r>
          </a:p>
          <a:p>
            <a:pPr>
              <a:defRPr sz="1800"/>
            </a:pPr>
            <a:r>
              <a:t>Fair Housing Act protects against housing-related discrimination.</a:t>
            </a:r>
          </a:p>
          <a:p>
            <a:pPr>
              <a:defRPr sz="1800"/>
            </a:pPr>
            <a:r>
              <a:t>Responsible AI requires transparency, explainability, and accountability.</a:t>
            </a:r>
          </a:p>
          <a:p>
            <a:pPr>
              <a:defRPr sz="1800"/>
            </a:pPr>
            <a:r>
              <a:t>Fair lending models must balance business efficiency with equity.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112D4E"/>
                </a:solidFill>
              </a:defRPr>
            </a:pPr>
            <a:r>
              <a:t>Appendix D — Technical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Gradient Boosting Machine (GBM) achieved the strongest predictive performance.</a:t>
            </a:r>
          </a:p>
          <a:p>
            <a:pPr>
              <a:defRPr sz="1800"/>
            </a:pPr>
            <a:r>
              <a:t>Threshold optimization improved subgroup fairness metrics.</a:t>
            </a:r>
          </a:p>
          <a:p>
            <a:pPr>
              <a:defRPr sz="1800"/>
            </a:pPr>
            <a:r>
              <a:t>Fairness metrics were evaluated across race and sex groups.</a:t>
            </a:r>
          </a:p>
          <a:p>
            <a:pPr>
              <a:defRPr sz="1800"/>
            </a:pPr>
            <a:r>
              <a:t>Continuous monitoring is necessary after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